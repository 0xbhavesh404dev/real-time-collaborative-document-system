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60652f52604511" /><Relationship Type="http://schemas.openxmlformats.org/officeDocument/2006/relationships/extended-properties" Target="/docProps/app.xml" Id="Rd1b32845edb741d2" /><Relationship Type="http://schemas.openxmlformats.org/officeDocument/2006/relationships/officeDocument" Target="/ppt/presentation.xml" Id="R50c81e294bef49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c2fb0692854b0c"/>
  </p:sldMasterIdLst>
  <p:notesMasterIdLst>
    <p:notesMasterId xmlns:r="http://schemas.openxmlformats.org/officeDocument/2006/relationships" r:id="R86981c089eed4bf0"/>
  </p:notesMasterIdLst>
  <p:sldIdLst>
    <p:sldId xmlns:r="http://schemas.openxmlformats.org/officeDocument/2006/relationships" id="256" r:id="R38883ea1e0144d69"/>
    <p:sldId xmlns:r="http://schemas.openxmlformats.org/officeDocument/2006/relationships" id="257" r:id="R180bcbc855594afa"/>
    <p:sldId xmlns:r="http://schemas.openxmlformats.org/officeDocument/2006/relationships" id="258" r:id="R8f890beaebdf442a"/>
    <p:sldId xmlns:r="http://schemas.openxmlformats.org/officeDocument/2006/relationships" id="259" r:id="Rc82a37f324d34483"/>
    <p:sldId xmlns:r="http://schemas.openxmlformats.org/officeDocument/2006/relationships" id="260" r:id="Rf799b58717de495b"/>
    <p:sldId xmlns:r="http://schemas.openxmlformats.org/officeDocument/2006/relationships" id="261" r:id="R411aedbe66af4afa"/>
    <p:sldId xmlns:r="http://schemas.openxmlformats.org/officeDocument/2006/relationships" id="262" r:id="R4a852adf480c4f2a"/>
    <p:sldId xmlns:r="http://schemas.openxmlformats.org/officeDocument/2006/relationships" id="263" r:id="Ref5a44185f20472a"/>
    <p:sldId xmlns:r="http://schemas.openxmlformats.org/officeDocument/2006/relationships" id="264" r:id="Rafd27769ad3048ee"/>
    <p:sldId xmlns:r="http://schemas.openxmlformats.org/officeDocument/2006/relationships" id="265" r:id="R000b4ed9026e4744"/>
    <p:sldId xmlns:r="http://schemas.openxmlformats.org/officeDocument/2006/relationships" id="266" r:id="R6aa7930156be485b"/>
    <p:sldId xmlns:r="http://schemas.openxmlformats.org/officeDocument/2006/relationships" id="267" r:id="R1ba16d8552624268"/>
    <p:sldId xmlns:r="http://schemas.openxmlformats.org/officeDocument/2006/relationships" id="268" r:id="R5f313a27274e4f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caaf8794844fde" /><Relationship Type="http://schemas.openxmlformats.org/officeDocument/2006/relationships/slideMaster" Target="/ppt/slideMasters/slideMaster1.xml" Id="R5ac2fb0692854b0c" /><Relationship Type="http://schemas.openxmlformats.org/officeDocument/2006/relationships/notesMaster" Target="/ppt/notesMasters/notesMaster1.xml" Id="R86981c089eed4bf0" /><Relationship Type="http://schemas.openxmlformats.org/officeDocument/2006/relationships/presProps" Target="/ppt/presProps.xml" Id="R3105eb77ad8c41e4" /><Relationship Type="http://schemas.openxmlformats.org/officeDocument/2006/relationships/tableStyles" Target="/ppt/tableStyles.xml" Id="R8f23342b7b6f467d" /><Relationship Type="http://schemas.openxmlformats.org/officeDocument/2006/relationships/slide" Target="/ppt/slides/slide1.xml" Id="R38883ea1e0144d69" /><Relationship Type="http://schemas.openxmlformats.org/officeDocument/2006/relationships/slide" Target="/ppt/slides/slide2.xml" Id="R180bcbc855594afa" /><Relationship Type="http://schemas.openxmlformats.org/officeDocument/2006/relationships/slide" Target="/ppt/slides/slide3.xml" Id="R8f890beaebdf442a" /><Relationship Type="http://schemas.openxmlformats.org/officeDocument/2006/relationships/slide" Target="/ppt/slides/slide4.xml" Id="Rc82a37f324d34483" /><Relationship Type="http://schemas.openxmlformats.org/officeDocument/2006/relationships/slide" Target="/ppt/slides/slide5.xml" Id="Rf799b58717de495b" /><Relationship Type="http://schemas.openxmlformats.org/officeDocument/2006/relationships/slide" Target="/ppt/slides/slide6.xml" Id="R411aedbe66af4afa" /><Relationship Type="http://schemas.openxmlformats.org/officeDocument/2006/relationships/slide" Target="/ppt/slides/slide7.xml" Id="R4a852adf480c4f2a" /><Relationship Type="http://schemas.openxmlformats.org/officeDocument/2006/relationships/slide" Target="/ppt/slides/slide8.xml" Id="Ref5a44185f20472a" /><Relationship Type="http://schemas.openxmlformats.org/officeDocument/2006/relationships/slide" Target="/ppt/slides/slide9.xml" Id="Rafd27769ad3048ee" /><Relationship Type="http://schemas.openxmlformats.org/officeDocument/2006/relationships/slide" Target="/ppt/slides/slide10.xml" Id="R000b4ed9026e4744" /><Relationship Type="http://schemas.openxmlformats.org/officeDocument/2006/relationships/slide" Target="/ppt/slides/slide11.xml" Id="R6aa7930156be485b" /><Relationship Type="http://schemas.openxmlformats.org/officeDocument/2006/relationships/slide" Target="/ppt/slides/slide12.xml" Id="R1ba16d8552624268" /><Relationship Type="http://schemas.openxmlformats.org/officeDocument/2006/relationships/slide" Target="/ppt/slides/slide13.xml" Id="R5f313a27274e4f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8fed866b974f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fe2e729d91482a" /><Relationship Type="http://schemas.openxmlformats.org/officeDocument/2006/relationships/notesMaster" Target="/ppt/notesMasters/notesMaster1.xml" Id="Ra9dedbdb9f2645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15608a860d449e" /><Relationship Type="http://schemas.openxmlformats.org/officeDocument/2006/relationships/notesMaster" Target="/ppt/notesMasters/notesMaster1.xml" Id="Re80967016c064d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3a484e6cff4266" /><Relationship Type="http://schemas.openxmlformats.org/officeDocument/2006/relationships/notesMaster" Target="/ppt/notesMasters/notesMaster1.xml" Id="Rbf8246f97d9a4e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96de67c1854576" /><Relationship Type="http://schemas.openxmlformats.org/officeDocument/2006/relationships/notesMaster" Target="/ppt/notesMasters/notesMaster1.xml" Id="Ree19baf075a049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9987d4d35f49e5" /><Relationship Type="http://schemas.openxmlformats.org/officeDocument/2006/relationships/notesMaster" Target="/ppt/notesMasters/notesMaster1.xml" Id="R0b993b65a94a4e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c2e43b3bd24813" /><Relationship Type="http://schemas.openxmlformats.org/officeDocument/2006/relationships/notesMaster" Target="/ppt/notesMasters/notesMaster1.xml" Id="R7c659226d7474e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da79f1bbc246c9" /><Relationship Type="http://schemas.openxmlformats.org/officeDocument/2006/relationships/notesMaster" Target="/ppt/notesMasters/notesMaster1.xml" Id="Rfca2e46fcefb4e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0ff523cca54e3a" /><Relationship Type="http://schemas.openxmlformats.org/officeDocument/2006/relationships/notesMaster" Target="/ppt/notesMasters/notesMaster1.xml" Id="R868c73d3418644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d6069adf729429c" /><Relationship Type="http://schemas.openxmlformats.org/officeDocument/2006/relationships/notesMaster" Target="/ppt/notesMasters/notesMaster1.xml" Id="R11f9efcbc2d54e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16178ebb004717" /><Relationship Type="http://schemas.openxmlformats.org/officeDocument/2006/relationships/notesMaster" Target="/ppt/notesMasters/notesMaster1.xml" Id="Ra1ca3fb3343045b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327d40d9d254bf1" /><Relationship Type="http://schemas.openxmlformats.org/officeDocument/2006/relationships/notesMaster" Target="/ppt/notesMasters/notesMaster1.xml" Id="R389bddee067d4d7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7fea3a931e54810" /><Relationship Type="http://schemas.openxmlformats.org/officeDocument/2006/relationships/notesMaster" Target="/ppt/notesMasters/notesMaster1.xml" Id="R864eced5659b4fa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ce2cdc3d61e45b3" /><Relationship Type="http://schemas.openxmlformats.org/officeDocument/2006/relationships/notesMaster" Target="/ppt/notesMasters/notesMaster1.xml" Id="Rb99f89bb52834a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54e7ec3b9042e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d464160f94485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89a81589d8413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95de3e24e4498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15ed0fd85d4aa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f9b789d05b48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546513-B74B-4A79-9B92-8F6C1A3C73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9E43472-DB7B-4E7F-AB93-B05E0BE631C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4C53AD0-E709-4CE8-B59F-0893544D9A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26590B-0FC4-4E1F-8F2D-1F13B3A041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FDB4B09-29C0-4505-B0D1-E2AEC76D29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CD1D2B9-727E-4D78-BC6E-84E5A5B7BB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81C57FA-B352-4EA8-976A-B0D9ECCEDC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BC64B30-1055-47C5-A1C3-2956F31428D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27FD92-1682-4590-AB7D-81F0E9A837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71CAB45-AAE2-4D9E-A648-79E0C4E766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733ee14d0f406b" /><Relationship Type="http://schemas.openxmlformats.org/officeDocument/2006/relationships/slideLayout" Target="/ppt/slideLayouts/slideLayout1.xml" Id="Rb1690d5b386d46c5" /><Relationship Type="http://schemas.openxmlformats.org/officeDocument/2006/relationships/slideLayout" Target="/ppt/slideLayouts/slideLayout2.xml" Id="R7f0f622cfbed4787" /><Relationship Type="http://schemas.openxmlformats.org/officeDocument/2006/relationships/slideLayout" Target="/ppt/slideLayouts/slideLayout3.xml" Id="R9e633df2b8a8413c" /><Relationship Type="http://schemas.openxmlformats.org/officeDocument/2006/relationships/slideLayout" Target="/ppt/slideLayouts/slideLayout4.xml" Id="R73fd2e71168c476e" /><Relationship Type="http://schemas.openxmlformats.org/officeDocument/2006/relationships/slideLayout" Target="/ppt/slideLayouts/slideLayout5.xml" Id="R8a65a9607d34469f" /><Relationship Type="http://schemas.openxmlformats.org/officeDocument/2006/relationships/slideLayout" Target="/ppt/slideLayouts/slideLayout6.xml" Id="R6e6041b230a741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690d5b386d46c5"/>
    <p:sldLayoutId xmlns:r="http://schemas.openxmlformats.org/officeDocument/2006/relationships" id="2147483650" r:id="R7f0f622cfbed4787"/>
    <p:sldLayoutId xmlns:r="http://schemas.openxmlformats.org/officeDocument/2006/relationships" id="2147483651" r:id="R9e633df2b8a8413c"/>
    <p:sldLayoutId xmlns:r="http://schemas.openxmlformats.org/officeDocument/2006/relationships" id="2147483652" r:id="R73fd2e71168c476e"/>
    <p:sldLayoutId xmlns:r="http://schemas.openxmlformats.org/officeDocument/2006/relationships" id="2147483653" r:id="R8a65a9607d34469f"/>
    <p:sldLayoutId xmlns:r="http://schemas.openxmlformats.org/officeDocument/2006/relationships" id="2147483654" r:id="R6e6041b230a741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ade78168344fa2" /><Relationship Type="http://schemas.openxmlformats.org/officeDocument/2006/relationships/notesSlide" Target="/ppt/notesSlides/notesSlide1.xml" Id="R9a06aae6a1cd40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fc10ac0d94403a" /><Relationship Type="http://schemas.openxmlformats.org/officeDocument/2006/relationships/notesSlide" Target="/ppt/notesSlides/notesSlide2.xml" Id="Rde29e779f0f240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b6be33ee7042b8" /><Relationship Type="http://schemas.openxmlformats.org/officeDocument/2006/relationships/notesSlide" Target="/ppt/notesSlides/notesSlide3.xml" Id="R801f243f6bba4d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d0f3b8411e473d" /><Relationship Type="http://schemas.openxmlformats.org/officeDocument/2006/relationships/notesSlide" Target="/ppt/notesSlides/notesSlide4.xml" Id="R25ebe048b56e40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088748f6ab47bb" /><Relationship Type="http://schemas.openxmlformats.org/officeDocument/2006/relationships/notesSlide" Target="/ppt/notesSlides/notesSlide5.xml" Id="R4705aabf8eac46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227791e540421d" /><Relationship Type="http://schemas.openxmlformats.org/officeDocument/2006/relationships/notesSlide" Target="/ppt/notesSlides/notesSlide6.xml" Id="R983a7ccd0f4e4f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fc8e1c98a64d47" /><Relationship Type="http://schemas.openxmlformats.org/officeDocument/2006/relationships/notesSlide" Target="/ppt/notesSlides/notesSlide7.xml" Id="Rb1a2ffe6249a45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79bcdc706c4f4e" /><Relationship Type="http://schemas.openxmlformats.org/officeDocument/2006/relationships/notesSlide" Target="/ppt/notesSlides/notesSlide8.xml" Id="R2632979863cb4e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4bb7e962b74245" /><Relationship Type="http://schemas.openxmlformats.org/officeDocument/2006/relationships/notesSlide" Target="/ppt/notesSlides/notesSlide9.xml" Id="R3e1f06370d104c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a5af4c2952475e" /><Relationship Type="http://schemas.openxmlformats.org/officeDocument/2006/relationships/notesSlide" Target="/ppt/notesSlides/notesSlide10.xml" Id="Rbf402ea4782b4e0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884ea7014848b8" /><Relationship Type="http://schemas.openxmlformats.org/officeDocument/2006/relationships/notesSlide" Target="/ppt/notesSlides/notesSlide11.xml" Id="R32e4bfdd42cc446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2b503485944021" /><Relationship Type="http://schemas.openxmlformats.org/officeDocument/2006/relationships/notesSlide" Target="/ppt/notesSlides/notesSlide12.xml" Id="Rfcc155ee01b64ca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c10cde5ff044b5" /><Relationship Type="http://schemas.openxmlformats.org/officeDocument/2006/relationships/notesSlide" Target="/ppt/notesSlides/notesSlide13.xml" Id="R5f35e4c99f7c43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B8B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5353E-1F07-48E5-8FE0-E3FFA947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0572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Real-Time Collaborative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Document Management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9A1431-CFD5-469A-BA8E-33E7C6F9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037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325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3" name="team-footer">
            <a:extLst xmlns:a="http://schemas.openxmlformats.org/drawingml/2006/main">
              <a:ext uri="{FF2B5EF4-FFF2-40B4-BE49-F238E27FC236}">
                <a16:creationId xmlns:a16="http://schemas.microsoft.com/office/drawing/2014/main" id="{FE18DF7C-7D85-4222-9D2A-82E26056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81625"/>
            <a:ext cx="121920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2A8A94-68EC-45A8-9F4C-3D67870A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4762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Yusuf Shereef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Bhavesh Kumar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Madamshetty Pruthvi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Syed Mohammed Faizan</a:t>
            </a:r>
          </a:p>
        </p:txBody>
      </p:sp>
    </p:spTree>
    <p:extLst>
      <p:ext uri="{BB962C8B-B14F-4D97-AF65-F5344CB8AC3E}">
        <p14:creationId xmlns:p14="http://schemas.microsoft.com/office/powerpoint/2010/main" val="2110353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header-band">
            <a:extLst xmlns:a="http://schemas.openxmlformats.org/drawingml/2006/main">
              <a:ext uri="{FF2B5EF4-FFF2-40B4-BE49-F238E27FC236}">
                <a16:creationId xmlns:a16="http://schemas.microsoft.com/office/drawing/2014/main" id="{848B847E-CDD0-40CA-A53F-DF44D72E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5357A6-79DC-46E3-84EB-249744B7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 and project goal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1509A16D-1392-48EF-9383-4B9766EC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1554E-5951-4F53-B9E1-9CEB30C4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F164ED-EDB6-4E96-AD7D-660F9B7D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933E49-EC4E-46DC-83AC-90BAC715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2B7B9F-115A-4AD9-91EE-8868CE0A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9725"/>
            <a:ext cx="4857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When two people edit a shared document, saving a whole new copy can replace someone else’s recent 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8074D6-E4DB-4BDF-85B3-05415471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3825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What we built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3697BF-0A36-492C-B4CD-86EA7167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09725"/>
            <a:ext cx="514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 browser based document system where edits travel as small operations, merge on the server, and appear for collaborators.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EB5D22-6521-4FC4-9B05-534D50A4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81125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8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778C2A-1636-49C4-96FC-BFD3205C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766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Project goal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9E31BA-46A3-442D-B852-1276E887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95725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Keep a shared document consistent while people edit at the same time, with saved history and role based access.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60BCB0-D4B2-40A9-8280-44E7825F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625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 project also demonstrates how a relational database supports users, workspaces, documents, edit history and permissions.</a:t>
            </a:r>
          </a:p>
        </p:txBody>
      </p:sp>
    </p:spTree>
    <p:extLst>
      <p:ext uri="{BB962C8B-B14F-4D97-AF65-F5344CB8AC3E}">
        <p14:creationId xmlns:p14="http://schemas.microsoft.com/office/powerpoint/2010/main" val="20497549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E5C62A88-F630-47D1-AC77-DCB50EF9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836BD3-6403-4493-894F-2019FECE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we built the project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C139E22F-C2A4-4AF9-8A81-8729CCBC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6642F-8537-4C12-9380-B3470A15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29350A-92B5-4CBB-8D95-99748C0E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0F4800-BD9B-49B0-99E0-C15BD222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763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We built the application in layers so each part has a clear job.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5953EB-775B-41D3-A2C8-1545A7F4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47850"/>
            <a:ext cx="3286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17DFE3-4870-4751-83C3-1D5727EB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19325"/>
            <a:ext cx="32861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React and Vite provide the document editor, formatting controls, channel pages and AI writing panel.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5A8E89-263C-49D1-AC5B-EB51C664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47850"/>
            <a:ext cx="3286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Application server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AD90EE-AA81-439E-84B7-1901C65E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19325"/>
            <a:ext cx="32861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Node.js and Express handle sign in, channels, permissions and saved document versions.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FCEADB-6000-488C-B871-E9AFD4D5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47850"/>
            <a:ext cx="3286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Live collaboration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A93664-5F63-4E4D-98B7-92084873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19325"/>
            <a:ext cx="32861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Socket.IO carries edit operations and presence updates between people in the same document.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E71527-63BA-47A7-BEBB-FA6792C7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67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8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0FD130-E097-4693-B52A-C8BE0C0D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Data and implementation choices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F40BA3-6FF8-4EA8-9BCA-C9837D5B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0075"/>
            <a:ext cx="171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433400-E2A6-418A-8A0E-E7E779C4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10075"/>
            <a:ext cx="1014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PostgreSQL stores accounts, memberships, documents, operation history and saved versions.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DE0C51-81F7-4330-8337-E4D3BA373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48225"/>
            <a:ext cx="171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73D27B-DAAE-4963-AC25-EE0FEF89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48225"/>
            <a:ext cx="10144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 small character based CRDT was written for this project instead of using a ready made CRDT package.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62DBB9-11D6-4C29-A806-2D30184D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38775"/>
            <a:ext cx="171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F8265E-4D9A-459C-AFCC-03A7B5AD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38775"/>
            <a:ext cx="1014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team connected the editor to the API and socket events, then checked the CRDT behavior with automated tests.</a:t>
            </a:r>
          </a:p>
        </p:txBody>
      </p:sp>
    </p:spTree>
    <p:extLst>
      <p:ext uri="{BB962C8B-B14F-4D97-AF65-F5344CB8AC3E}">
        <p14:creationId xmlns:p14="http://schemas.microsoft.com/office/powerpoint/2010/main" val="13839066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5C76A5-4BDE-4A07-B8B2-78B69C6F91D0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>
            <a:off x="6024563" y="2705100"/>
            <a:ext cx="71438" cy="2447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8C88"/>
            </a:solidFill>
            <a:prstDash val="solid"/>
            <a:tailEnd type="arrow" w="med" len="me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4D0197-C756-4CEA-8532-B1CFC5F6D210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6" idx="3"/>
          </p:cNvCxnSpPr>
          <p:nvPr/>
        </p:nvCxnSpPr>
        <p:spPr>
          <a:xfrm xmlns:a="http://schemas.openxmlformats.org/drawingml/2006/main" flipH="1">
            <a:off x="10191750" y="2705100"/>
            <a:ext cx="481013" cy="1152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8C88"/>
            </a:solidFill>
            <a:prstDash val="solid"/>
            <a:tailEnd type="arrow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EF9ADA-82D7-4703-8A0A-3C18DA929E3C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324975" y="213360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3838"/>
            </a:solidFill>
            <a:prstDash val="solid"/>
            <a:tailEnd type="arrow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D5CE99-F60E-4A8C-B03D-AAF780A62DE4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000875" y="213360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3838"/>
            </a:solidFill>
            <a:prstDash val="solid"/>
            <a:tailEnd type="arrow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7374A3-EEE8-4900-B4E8-AB5357CA0BAA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676775" y="213360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3838"/>
            </a:solidFill>
            <a:prstDash val="solid"/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6DD040-3E56-489D-93A5-B37C78811CEF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352675" y="213360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3838"/>
            </a:solidFill>
            <a:prstDash val="solid"/>
            <a:tailEnd type="arrow" w="med" len="med"/>
          </a:ln>
        </p:spPr>
      </p:cxnSp>
      <p:sp>
        <p:nvSpPr>
          <p:cNvPr id="36" name="header-band">
            <a:extLst xmlns:a="http://schemas.openxmlformats.org/drawingml/2006/main">
              <a:ext uri="{FF2B5EF4-FFF2-40B4-BE49-F238E27FC236}">
                <a16:creationId xmlns:a16="http://schemas.microsoft.com/office/drawing/2014/main" id="{E6F5CF9A-47F2-469D-B24F-5A1BE990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B5742F-0AFC-4B99-B01F-2DE79E64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System workflow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222E20AA-37C8-42A5-92A0-930E0629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8F770A-B08B-41C2-B459-64B7D309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AA160B-1824-4BBB-8847-9FAA08F3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7DDB2E-8735-408F-948F-02D77A70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42975"/>
            <a:ext cx="1114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 document edit is checked, merged, saved and sent back to everyone in that document.</a:t>
            </a:r>
          </a:p>
        </p:txBody>
      </p:sp>
      <p:sp>
        <p:nvSpPr>
          <p:cNvPr id="7" name="Users">
            <a:extLst xmlns:a="http://schemas.openxmlformats.org/drawingml/2006/main">
              <a:ext uri="{FF2B5EF4-FFF2-40B4-BE49-F238E27FC236}">
                <a16:creationId xmlns:a16="http://schemas.microsoft.com/office/drawing/2014/main" id="{339FF4C1-7A5C-466E-A3E0-13F08CDE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952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3CA00B-CD4C-46F8-8C1F-048DA2AF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4782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44F847-7E3B-417B-B6DF-5F5FAFD9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71675"/>
            <a:ext cx="17240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Sign in; open a channel and document</a:t>
            </a:r>
          </a:p>
        </p:txBody>
      </p:sp>
      <p:sp>
        <p:nvSpPr>
          <p:cNvPr id="10" name="React interface">
            <a:extLst xmlns:a="http://schemas.openxmlformats.org/drawingml/2006/main">
              <a:ext uri="{FF2B5EF4-FFF2-40B4-BE49-F238E27FC236}">
                <a16:creationId xmlns:a16="http://schemas.microsoft.com/office/drawing/2014/main" id="{D0CABFC0-0991-47C2-B70E-0EEA8436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62100"/>
            <a:ext cx="1952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F77126-693D-4597-9F52-CAB95C6B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64782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React interface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D0A532-4632-444F-9A9C-D0E70E2E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71675"/>
            <a:ext cx="17240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Editor, formatting, channels and document actions</a:t>
            </a:r>
          </a:p>
        </p:txBody>
      </p:sp>
      <p:sp>
        <p:nvSpPr>
          <p:cNvPr id="13" name="Express + Socket.IO">
            <a:extLst xmlns:a="http://schemas.openxmlformats.org/drawingml/2006/main">
              <a:ext uri="{FF2B5EF4-FFF2-40B4-BE49-F238E27FC236}">
                <a16:creationId xmlns:a16="http://schemas.microsoft.com/office/drawing/2014/main" id="{A048D23D-8145-4C7D-8AF4-01A199D5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562100"/>
            <a:ext cx="1952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F107C5-7C2B-4E1C-9CFA-ACE28817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4782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Express + Socket.IO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0C8289-C91A-4455-BD43-1B53E468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71675"/>
            <a:ext cx="17240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REST access checks; live operation events</a:t>
            </a:r>
          </a:p>
        </p:txBody>
      </p:sp>
      <p:sp>
        <p:nvSpPr>
          <p:cNvPr id="16" name="TextCRDT">
            <a:extLst xmlns:a="http://schemas.openxmlformats.org/drawingml/2006/main">
              <a:ext uri="{FF2B5EF4-FFF2-40B4-BE49-F238E27FC236}">
                <a16:creationId xmlns:a16="http://schemas.microsoft.com/office/drawing/2014/main" id="{E4286658-83C8-463E-ABFF-330855E7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562100"/>
            <a:ext cx="1952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D09103-9F66-4C1A-ADE6-787D72AA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64782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TextCRDT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001512-6837-4089-B296-BD1402BF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71675"/>
            <a:ext cx="17240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Orders concurrent inserts and deletes</a:t>
            </a:r>
          </a:p>
        </p:txBody>
      </p:sp>
      <p:sp>
        <p:nvSpPr>
          <p:cNvPr id="19" name="PostgreSQL">
            <a:extLst xmlns:a="http://schemas.openxmlformats.org/drawingml/2006/main">
              <a:ext uri="{FF2B5EF4-FFF2-40B4-BE49-F238E27FC236}">
                <a16:creationId xmlns:a16="http://schemas.microsoft.com/office/drawing/2014/main" id="{03604264-D2C8-436D-8BA4-EC36AB25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562100"/>
            <a:ext cx="1952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F3BA3D-84A8-4363-8BEE-FA7A3788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64782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5AB9D0-D18F-4D48-8D96-824ECF9F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71675"/>
            <a:ext cx="17240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Documents, operations, users and versions</a:t>
            </a:r>
          </a:p>
        </p:txBody>
      </p:sp>
      <p:sp>
        <p:nvSpPr>
          <p:cNvPr id="26" name="Document management">
            <a:extLst xmlns:a="http://schemas.openxmlformats.org/drawingml/2006/main">
              <a:ext uri="{FF2B5EF4-FFF2-40B4-BE49-F238E27FC236}">
                <a16:creationId xmlns:a16="http://schemas.microsoft.com/office/drawing/2014/main" id="{804C4C7B-2C9C-4749-93C2-4E7BEFEF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419475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F0A259-6FF9-4D60-BDD4-E151F6FA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05200"/>
            <a:ext cx="800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Document management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15DF52-52E2-4942-8E84-1B70C654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29050"/>
            <a:ext cx="7962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Channels and member roles  •  document loading  •  version history  •  preview and restore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005D0E-C7B4-408D-96C3-988AD105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76750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REST reads saved documents and versions; restore records the restored text as a new version.</a:t>
            </a:r>
          </a:p>
        </p:txBody>
      </p:sp>
      <p:sp>
        <p:nvSpPr>
          <p:cNvPr id="31" name="Shared result">
            <a:extLst xmlns:a="http://schemas.openxmlformats.org/drawingml/2006/main">
              <a:ext uri="{FF2B5EF4-FFF2-40B4-BE49-F238E27FC236}">
                <a16:creationId xmlns:a16="http://schemas.microsoft.com/office/drawing/2014/main" id="{00C4809A-DDE8-42CB-A60C-7908C525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53025"/>
            <a:ext cx="8191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1E48E6-695F-48C9-91B9-7D46CEDE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38750"/>
            <a:ext cx="800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Shared result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9659DE-BD62-40BA-BE1C-266AB980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562600"/>
            <a:ext cx="7962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2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 server accepts authorized edits, saves the updated state and broadcasts each operation to connected editors.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73CC21-ACAA-4144-8702-7E3EB92C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067425"/>
            <a:ext cx="819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 returned operation keeps collaborators’ document views in sync.</a:t>
            </a:r>
          </a:p>
        </p:txBody>
      </p:sp>
    </p:spTree>
    <p:extLst>
      <p:ext uri="{BB962C8B-B14F-4D97-AF65-F5344CB8AC3E}">
        <p14:creationId xmlns:p14="http://schemas.microsoft.com/office/powerpoint/2010/main" val="16714558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22C363-321B-49A2-BCDA-ABD6809BFB37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23" idx="3"/>
          </p:cNvCxnSpPr>
          <p:nvPr/>
        </p:nvCxnSpPr>
        <p:spPr>
          <a:xfrm xmlns:a="http://schemas.openxmlformats.org/drawingml/2006/main">
            <a:off x="9444038" y="4391025"/>
            <a:ext cx="938213" cy="9382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8C88"/>
            </a:solidFill>
            <a:prstDash val="solid"/>
            <a:tailEnd type="arrow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1CA690-BB88-416B-9317-1A43202D2A7D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905625" y="3781425"/>
            <a:ext cx="942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3838"/>
            </a:solidFill>
            <a:prstDash val="solid"/>
            <a:tailEnd type="arrow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347884-770C-46D6-8EC6-8AFAD74054E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838450" y="2209800"/>
            <a:ext cx="876300" cy="1571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3838"/>
            </a:solidFill>
            <a:prstDash val="solid"/>
            <a:tailEnd type="arrow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F96CC6-1657-45F6-9793-3F696E9446EA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2838450" y="2019300"/>
            <a:ext cx="87630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8C88"/>
            </a:solidFill>
            <a:prstDash val="solid"/>
            <a:tailEnd type="arrow" w="med" len="med"/>
          </a:ln>
        </p:spPr>
      </p:cxnSp>
      <p:sp>
        <p:nvSpPr>
          <p:cNvPr id="28" name="header-band">
            <a:extLst xmlns:a="http://schemas.openxmlformats.org/drawingml/2006/main">
              <a:ext uri="{FF2B5EF4-FFF2-40B4-BE49-F238E27FC236}">
                <a16:creationId xmlns:a16="http://schemas.microsoft.com/office/drawing/2014/main" id="{4BE1E372-2465-4FE0-9C3B-32D8837C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0FC34F-03C6-45EE-96CF-297AE021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and language tools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A128D18E-2B6E-4232-958C-6846EC36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094F6-E013-4B4A-A188-70305866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32AE9D-1DB4-4610-A48E-6C61FF68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11589-5F01-417B-A2F6-7926E813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52500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 editor sends each request to the service that provides that feature.</a:t>
            </a:r>
          </a:p>
        </p:txBody>
      </p:sp>
      <p:sp>
        <p:nvSpPr>
          <p:cNvPr id="7" name="Editor request">
            <a:extLst xmlns:a="http://schemas.openxmlformats.org/drawingml/2006/main">
              <a:ext uri="{FF2B5EF4-FFF2-40B4-BE49-F238E27FC236}">
                <a16:creationId xmlns:a16="http://schemas.microsoft.com/office/drawing/2014/main" id="{3A7A39D3-604A-4931-9771-BED1378A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85925"/>
            <a:ext cx="2286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38E764-0C87-4FB3-863D-55BACC4C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Editor 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00A302-6897-42A1-8113-CFC2EBF9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057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Grammar, similarity or an AI writing action</a:t>
            </a:r>
          </a:p>
        </p:txBody>
      </p:sp>
      <p:sp>
        <p:nvSpPr>
          <p:cNvPr id="10" name="Local services">
            <a:extLst xmlns:a="http://schemas.openxmlformats.org/drawingml/2006/main">
              <a:ext uri="{FF2B5EF4-FFF2-40B4-BE49-F238E27FC236}">
                <a16:creationId xmlns:a16="http://schemas.microsoft.com/office/drawing/2014/main" id="{ECB468B8-3299-4617-BC5E-D6F7E571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09700"/>
            <a:ext cx="31908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143AC2-8C4C-4C0C-8E87-2EF10ADA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495425"/>
            <a:ext cx="300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Local services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CDACCF-6172-4511-AA72-5BAE7DFD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19275"/>
            <a:ext cx="29622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LanguageTool checks grammar; local TF-IDF corpus checks text similarity</a:t>
            </a:r>
          </a:p>
        </p:txBody>
      </p:sp>
      <p:sp>
        <p:nvSpPr>
          <p:cNvPr id="13" name="App server">
            <a:extLst xmlns:a="http://schemas.openxmlformats.org/drawingml/2006/main">
              <a:ext uri="{FF2B5EF4-FFF2-40B4-BE49-F238E27FC236}">
                <a16:creationId xmlns:a16="http://schemas.microsoft.com/office/drawing/2014/main" id="{E136C20E-E1D0-4EDB-BA96-3CBA5404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71825"/>
            <a:ext cx="31908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3E2237-7D50-46FF-86D6-9450F940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57550"/>
            <a:ext cx="300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App server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1B2A3A-5A7C-4A71-BB96-A6C03C1F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581400"/>
            <a:ext cx="29622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Keeps GEMINI_API_KEY private; applies per-user rate limits</a:t>
            </a:r>
          </a:p>
        </p:txBody>
      </p:sp>
      <p:sp>
        <p:nvSpPr>
          <p:cNvPr id="16" name="Gemini API">
            <a:extLst xmlns:a="http://schemas.openxmlformats.org/drawingml/2006/main">
              <a:ext uri="{FF2B5EF4-FFF2-40B4-BE49-F238E27FC236}">
                <a16:creationId xmlns:a16="http://schemas.microsoft.com/office/drawing/2014/main" id="{D6FA30FB-1779-4A13-8413-4E2FD63D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71825"/>
            <a:ext cx="31908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F754DE-243D-4E34-84B7-76306BB2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57550"/>
            <a:ext cx="300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Gemini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779276-2B03-47CE-B07D-7B5C7BC5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81400"/>
            <a:ext cx="29622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Improve, paraphrase, summarize, translate and autocomplete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1CF0A2-6058-4598-8531-DDB79E8F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28825"/>
            <a:ext cx="319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If LanguageTool is unavailable, one Gemini grammar fallback is attempted (with a cooldown).</a:t>
            </a:r>
          </a:p>
        </p:txBody>
      </p:sp>
      <p:sp>
        <p:nvSpPr>
          <p:cNvPr id="23" name="When Gemini is unavailable">
            <a:extLst xmlns:a="http://schemas.openxmlformats.org/drawingml/2006/main">
              <a:ext uri="{FF2B5EF4-FFF2-40B4-BE49-F238E27FC236}">
                <a16:creationId xmlns:a16="http://schemas.microsoft.com/office/drawing/2014/main" id="{16491F97-9A10-4165-97BE-C32329B4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29175"/>
            <a:ext cx="8572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13335">
            <a:solidFill>
              <a:srgbClr val="38383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9AE3A1-19CF-402F-B6E3-A726ACB1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14900"/>
            <a:ext cx="838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When Gemini is unavailable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7200C1-70D7-4361-AE91-E8BF5191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238750"/>
            <a:ext cx="834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Summary shows an extractive preview. Autocomplete returns no text. Paraphrase and translation show an unavailable message. There is no local generative LLM fallback in this build.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8C8C66-A434-4598-9C1D-029FA7D9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10275"/>
            <a:ext cx="1109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GitHub Pages can host the browser interface only. The API server, database and LanguageTool service must be hosted separately; configure LANGUAGETOOL_URL to reach that service.</a:t>
            </a:r>
          </a:p>
        </p:txBody>
      </p:sp>
    </p:spTree>
    <p:extLst>
      <p:ext uri="{BB962C8B-B14F-4D97-AF65-F5344CB8AC3E}">
        <p14:creationId xmlns:p14="http://schemas.microsoft.com/office/powerpoint/2010/main" val="10864179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header-band">
            <a:extLst xmlns:a="http://schemas.openxmlformats.org/drawingml/2006/main">
              <a:ext uri="{FF2B5EF4-FFF2-40B4-BE49-F238E27FC236}">
                <a16:creationId xmlns:a16="http://schemas.microsoft.com/office/drawing/2014/main" id="{C1347D1A-21EC-4DE4-ABCD-A3338CBB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439F25-DBE7-4FF7-8779-BE26EBDA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Database design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3C611818-E0A8-4B47-A5AB-57A10E00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AE562C-B3DD-4C9D-9AAA-4CA05B56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27988D-95DC-49C5-8570-2BB3B2E5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C35BE6-2B4A-473C-92B1-D62D5B25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PostgreSQL keeps the project’s records connected with foreign keys.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EC766E-5B57-469C-B8AA-D878C66F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57350"/>
            <a:ext cx="11096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B188A5-A49D-4B21-9628-30D15AA6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108930-E28E-4B8E-BFBB-38AA2B1C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704975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Account identity and password hash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8CF69E-2003-4462-BB8B-D6511C8B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channels + channel_members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FB9252-B997-4911-9C9A-C5EBD93B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3241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Shared spaces and each member’s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F3D46E-14A7-4426-92E3-A13E4C28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95600"/>
            <a:ext cx="11096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CB2280-0D86-41D7-B135-3E656081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432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documents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870D22-B795-43C8-9F63-E8C2A228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943225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Current text, formatted content and CRDT 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E75F2E-09EF-4631-9286-EF872A59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document_operations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86A637-E1B6-4A86-AE36-BFDA5C82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5623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Accepted insert / delete operations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32CE92-85C3-4680-9DC9-9FE8BB71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33850"/>
            <a:ext cx="11096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C38782-70DA-43B7-A477-D5946872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814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versions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2186F5-61C0-4381-A0D1-70F92D1E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181475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Manual snapshots with author and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7378AA-E603-4F1D-B804-5D68C0A3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006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invitations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30A3B0-1240-41F7-9BEA-8A520426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8006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Pending or completed channel invitations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733F86-E0BA-4B42-BCD5-21F84961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197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 channel has many members and documents. A document has many operations and versions.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AAA0C5-C516-494E-A04C-43B4BEE5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2932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 schema uses unique constraints and indexes for memberships, operation IDs, document lists and version history.</a:t>
            </a:r>
          </a:p>
        </p:txBody>
      </p:sp>
    </p:spTree>
    <p:extLst>
      <p:ext uri="{BB962C8B-B14F-4D97-AF65-F5344CB8AC3E}">
        <p14:creationId xmlns:p14="http://schemas.microsoft.com/office/powerpoint/2010/main" val="5474745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header-band">
            <a:extLst xmlns:a="http://schemas.openxmlformats.org/drawingml/2006/main">
              <a:ext uri="{FF2B5EF4-FFF2-40B4-BE49-F238E27FC236}">
                <a16:creationId xmlns:a16="http://schemas.microsoft.com/office/drawing/2014/main" id="{AB19B419-C148-4A99-931F-503D55E4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4016A-9B4C-4C38-8FFB-21293E52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simultaneous edits are reconciled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275AAE15-4A79-4870-9E15-06FFCF2F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B0A223-07C6-42D9-8242-BD9312C7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124B31-B352-455F-9569-032D862F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706F1D-08BD-4F82-A8BE-8280AA49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Each inserted character has an ID and a reference to the character before it. Deletes leave a tombstone.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59E341-D02B-439B-8778-41A7EB22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Starting 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989B3D-B49A-4E42-98BE-16B48ADC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7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098967-64B9-4F27-8A6F-31B29C59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52625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Two people insert after A at nearly the same 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7039BA-F21C-43B2-8759-AE8EC2C6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62200"/>
            <a:ext cx="3095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11430">
            <a:solidFill>
              <a:srgbClr val="138C8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575564-8242-49CC-8837-397E17DC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457450"/>
            <a:ext cx="271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User 1: insert X after A</a:t>
            </a:r>
          </a:p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operation ID: user1:1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31A154-7440-430A-B680-D95678D1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62200"/>
            <a:ext cx="3095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11430">
            <a:solidFill>
              <a:srgbClr val="138C8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59BC20-DA47-410F-992F-B0A9526D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57450"/>
            <a:ext cx="271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User 2: insert Y after A</a:t>
            </a:r>
          </a:p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operation ID: user2:1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14C576-69D1-48F9-BA4A-8C6D78EE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1019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Both replicas receive both operations. The CRDT sorts concurrent siblings by operation ID, so delivery order does not decide the result.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929E40-2E9A-429D-87DB-198A9FC3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Shared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C78139-9293-4194-A43C-F4B22157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85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0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AXY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385E0B-865E-4301-B643-90EE16F3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57800"/>
            <a:ext cx="676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 deleted character stays internally as a tombstone so later operations can still refer to its ID.</a:t>
            </a:r>
          </a:p>
        </p:txBody>
      </p:sp>
    </p:spTree>
    <p:extLst>
      <p:ext uri="{BB962C8B-B14F-4D97-AF65-F5344CB8AC3E}">
        <p14:creationId xmlns:p14="http://schemas.microsoft.com/office/powerpoint/2010/main" val="8131463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header-band">
            <a:extLst xmlns:a="http://schemas.openxmlformats.org/drawingml/2006/main">
              <a:ext uri="{FF2B5EF4-FFF2-40B4-BE49-F238E27FC236}">
                <a16:creationId xmlns:a16="http://schemas.microsoft.com/office/drawing/2014/main" id="{F73CED09-EDEC-4DD7-9A8A-936DAE9A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CF4874-1237-42EC-ADFD-AB57A290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a user can do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56B9ACE5-4BC5-437F-B3B2-75361BA3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9A6A27-186E-4446-A68F-C0F36C1C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CDC445-D11C-4919-918A-EDD4D84E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963CB0-408A-4670-9300-E402D6B5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573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Work together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193F6F-DA3E-4F6C-9B6F-EA0BF269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A3FFFD-86E9-4BDA-8629-A35195E2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383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Create channels and shared documents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289EA4-A6FB-45EC-AC78-BD4F5BF7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5CFC07-A091-4A03-8860-389C1B6F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8130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See who is in a document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3A15E5-FAB1-4962-86FC-17B76D80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3C09CF-04A6-49A6-B3FC-4A912105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5242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Edit live with other collaborators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20B935-0481-4CFE-A710-2944AB13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573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Manage access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9620B7-47DA-4BB1-BE4B-EAD34A10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3835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B17C6C-25FF-46CB-98E3-631F1626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383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Assign admin, editor or viewer roles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13026E-9E14-4A5D-B4E1-B3E8999C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8130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C947D2-A2E1-4A9B-84C5-B80D3404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8130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Check permissions on the server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D642C5-203D-4992-B91D-1F3AD730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2425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308C28-2FD2-449E-9A58-7F662576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242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Invite and manage channel members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473832-3FE2-4F43-B3C6-E0BBC295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573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Manage documents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0B8E7B-15FC-41DC-8BD0-3EF498C6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3835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1AF7D2-C5EE-4F61-9754-679A4C01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0383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Format text in the editor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9B303F-6DC8-426E-9DAC-7B13669E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8130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7F260A-2C2E-438B-987E-97268C9C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78130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Save and preview versions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38A3B5-7A3B-4188-B788-C6D5D982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2425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F09FE5-92D5-4163-99BD-2D67DB8A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5242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Restore an earlier snapshot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AD05B1-A6E7-4D48-B6BD-FE42D519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906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8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765423-D05A-4523-946A-A135738C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3906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8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D64F02-0EB1-43AB-8478-296D68B1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Viewers can read; admins and editors can make changes. The server enforces the same rule for API and socket actions.</a:t>
            </a:r>
          </a:p>
        </p:txBody>
      </p:sp>
    </p:spTree>
    <p:extLst>
      <p:ext uri="{BB962C8B-B14F-4D97-AF65-F5344CB8AC3E}">
        <p14:creationId xmlns:p14="http://schemas.microsoft.com/office/powerpoint/2010/main" val="21156852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header-band">
            <a:extLst xmlns:a="http://schemas.openxmlformats.org/drawingml/2006/main">
              <a:ext uri="{FF2B5EF4-FFF2-40B4-BE49-F238E27FC236}">
                <a16:creationId xmlns:a16="http://schemas.microsoft.com/office/drawing/2014/main" id="{8CA3FB05-925C-495D-8480-9852AC18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23258E-D2EA-4487-89CD-70F0D89C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is new, and how the method adapts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9CEBEC94-6CD9-4798-858D-D16311CE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97BE6C-3CCE-47C1-B951-AAA468E0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8C7507-9C68-4706-ADBF-F043955B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BB6E23-E68E-46F2-8DA4-77D32E9D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1001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 main contribution is the way the project combines document management with a custom, inspectable collaboration method.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F97DB3-E4E7-4ACD-9B67-A5DB3BEF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What is new in this project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2AE15-B3CB-4AD8-9C80-9805FB9E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110900-FD3A-491C-81E5-B079D41E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81250"/>
            <a:ext cx="4714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Edits are represented as operations instead of replacing the whole 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136ED2-94E7-4DA3-83FD-3FBA3B8E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247891-335A-4C42-8069-663A016C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105150"/>
            <a:ext cx="4714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CRDT logic is small enough to inspect and explain in a DBMS project.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308235-AE02-451B-B56E-2B8DE6D5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290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DEA0F1-C341-4490-A344-5A8596C3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829050"/>
            <a:ext cx="4714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Operation history and manual versions make changes easier to review.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B35B67-5DC1-463A-9DB5-BA66F353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09750"/>
            <a:ext cx="0" cy="3028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8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4FD4D0-CAE1-476E-849B-706C9D25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9050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How it adapts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7E73DD-E11B-443E-BFAE-18D472D9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812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D37B6F-9485-4382-B5E9-CAD3A0F7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4714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More collaborators join through document rooms and channel membership.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4BE868-83F5-4DF4-8FA2-6B5BDFAB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051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4EA338-E549-4143-AA76-D19C2442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05150"/>
            <a:ext cx="4714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New document features can use the existing API, role checks and tables.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76BB5D-D45E-4F41-B09E-A04B41E4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829050"/>
            <a:ext cx="17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11DC5D-F6FF-4805-83AC-CE7578BE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29050"/>
            <a:ext cx="4714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Future changes can add tables or modules without changing the core edit flow.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46A1BB-2A99-4236-AA4C-6935D10F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219700"/>
            <a:ext cx="10906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Current scope: one server keeps active CRDTs in memory; this project does not provide offline multi-server synchronization.</a:t>
            </a:r>
          </a:p>
        </p:txBody>
      </p:sp>
    </p:spTree>
    <p:extLst>
      <p:ext uri="{BB962C8B-B14F-4D97-AF65-F5344CB8AC3E}">
        <p14:creationId xmlns:p14="http://schemas.microsoft.com/office/powerpoint/2010/main" val="4314253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-band">
            <a:extLst xmlns:a="http://schemas.openxmlformats.org/drawingml/2006/main">
              <a:ext uri="{FF2B5EF4-FFF2-40B4-BE49-F238E27FC236}">
                <a16:creationId xmlns:a16="http://schemas.microsoft.com/office/drawing/2014/main" id="{E1936691-40E1-4994-9E9C-9DD98639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9CB4E3-422D-4C23-AEE6-A46D2699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Methodology evaluation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338C87E4-9417-4159-9075-6EAD8230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068987-891E-4436-9753-CC1142CB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A713F-97C8-4AA8-A18B-31DA4234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7BC093-AFB8-4A99-9D3C-EC6746BF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8700"/>
            <a:ext cx="1114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We checked correctness at the operation level and build readiness at the application level.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488136-A354-474D-B690-8A20ED08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0200"/>
            <a:ext cx="11144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DBAD00-0592-4D73-9B25-B27278EE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57350"/>
            <a:ext cx="2428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F96134-1063-4942-B32B-5719FD12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573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it verifies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5D9A6E-ABCF-4EDC-94E9-0DAACE7C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57350"/>
            <a:ext cx="319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A0020F-FD11-48CF-A197-5AF46E0C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57400"/>
            <a:ext cx="11144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FE6C36-5C0F-46DC-B404-84159E4B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33600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CRDT unit tests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C1EA57-867E-42FB-B181-DFCDC415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Insert, delete, duplicate IDs, pending dependencies, deterministic order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C6226C-2326-494C-BDA0-E3CC10BA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33600"/>
            <a:ext cx="309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13 tests pass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FBD752-584C-41A4-8176-09AE7139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86075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Frontend production build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E21DFB-D092-4C08-AEB5-D82CD787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86075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React and Vite compile the client bundle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17CB21-5565-4A34-8A03-260FD449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86075"/>
            <a:ext cx="309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Build succeeds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3C6914-7ECF-4E2C-9C39-D417E0E9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62350"/>
            <a:ext cx="11144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9E7C3C-C93B-49D7-B15C-59D2FD60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38550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Two-user manual check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6AC718-1DBA-4BC1-98D0-8574B065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385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Open one document twice and compare final text after edits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16E02D-3321-4744-BE8D-2839ECAE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38550"/>
            <a:ext cx="309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Use for live demo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FF599B-51F3-47E2-8FE9-02C12327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91025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Role checks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2098F1-3F89-48C2-AF59-1E3EEA11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91025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Viewer cannot edit; editor/admin can modify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C5AC6E-E712-406E-8371-0D14BECB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91025"/>
            <a:ext cx="309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Verify in demo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9C55C9-4237-4ED4-99A0-46CC5BEF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10858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These checks support the project’s functional claims. They are not a load test or a production reliability study.</a:t>
            </a:r>
          </a:p>
        </p:txBody>
      </p:sp>
    </p:spTree>
    <p:extLst>
      <p:ext uri="{BB962C8B-B14F-4D97-AF65-F5344CB8AC3E}">
        <p14:creationId xmlns:p14="http://schemas.microsoft.com/office/powerpoint/2010/main" val="18460262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header-band">
            <a:extLst xmlns:a="http://schemas.openxmlformats.org/drawingml/2006/main">
              <a:ext uri="{FF2B5EF4-FFF2-40B4-BE49-F238E27FC236}">
                <a16:creationId xmlns:a16="http://schemas.microsoft.com/office/drawing/2014/main" id="{5E57F023-24E6-46CE-950C-EA4E9CC9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A60C43-A194-4C3C-894B-7A20ECBA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Utility to users and society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BD02A9A8-D700-4E62-8393-042E68A8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522EB3-D596-4FDF-A686-9702DB90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51461E-630C-407C-A387-3BB162F9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FFFB4A-1A19-41D5-9333-4087D81D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Practical 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8C9B32-7899-4D04-9D3D-07705949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0225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 small team can draft and review one shared document without sending files back and forth.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7EC387-6EEA-4F7D-AEF8-CCDD8A90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Learning value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B2F571-AACE-45AA-8A4C-7BB2E6EE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0225"/>
            <a:ext cx="4953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Students can inspect how relational data, permissions, live events and conflict handling fit together.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5AFD2E-3168-44CA-B7FF-B4F7E053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76375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D8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3D6CD4-7AB1-443D-AA64-E70B55F4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623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Sustainable development path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ACDC72-E9C5-429E-84DE-6D6BAF2D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38625"/>
            <a:ext cx="171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C88D0D-18C4-446E-81F5-E308A57E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238625"/>
            <a:ext cx="4810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current system uses open source tools and a small database schema.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590712-CB3C-4A06-BD2E-60C8176A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815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FFEBE8-9F03-45C3-9DB6-E009B012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81550"/>
            <a:ext cx="481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modular API leaves room for comments, offline support or more document types.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92D1DF-C1DA-4007-AF93-A1A2F40E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623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Limits to explain honestly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AA96AE-7D27-49F0-AAED-97ABB07F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38625"/>
            <a:ext cx="171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5F56BD-5F51-41A1-B72C-E33D228D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238625"/>
            <a:ext cx="4810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custom CRDT is educational and runs on one application server.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128B3B-7236-4220-88A8-78C0833F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71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68AD07-BBAF-4A38-9644-82D491D5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781550"/>
            <a:ext cx="4905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originality panel checks against a bundled local corpus; it is not web wide plagiarism detection.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29642F-A5BD-4B80-82FC-B5A2397B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A3763A-99A4-44FB-A876-682690D5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240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Sign 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F1431F-10C9-4FEB-ACCE-8E1381A3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9240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Show account access and channel roles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A2328D-2CB0-4FC3-A8D6-CDA402D4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982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BCFC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06A82F-E957-411B-9022-4ADDBCDB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90825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C2332E-7AA0-4164-97E1-606AF822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908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Open a document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DAEFE7-C4A6-4462-93FE-CDA60345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79082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Show the editor and saved content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CA2DBB-4BF9-4588-8DC9-FF7A5377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BCFC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715F74-F21D-48A3-AE24-60939937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5760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ABEAB8-ED47-4FBA-84DD-03F3CAC8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576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Edit in two sessions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9B5385-6121-4E86-B218-9015863E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6576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Watch the second view receive the operation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E3108D-8798-40B9-ACFB-68F30AB0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4337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BCFC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D1203F-9797-48F4-B487-22D3E57D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24375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01CA03-66E8-47CA-8038-79472642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243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Save and restore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B2EA67-7BAF-40DE-B9D8-06950192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5243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Preview an older version, then restore it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A096CE-6380-4608-8A76-BA0283C5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29275"/>
            <a:ext cx="10715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For accessibility, use a clear spoken sequence, readable text and a live demonstration with prepared accounts and documents.</a:t>
            </a:r>
          </a:p>
        </p:txBody>
      </p:sp>
    </p:spTree>
    <p:extLst>
      <p:ext uri="{BB962C8B-B14F-4D97-AF65-F5344CB8AC3E}">
        <p14:creationId xmlns:p14="http://schemas.microsoft.com/office/powerpoint/2010/main" val="1506638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header-band">
            <a:extLst xmlns:a="http://schemas.openxmlformats.org/drawingml/2006/main">
              <a:ext uri="{FF2B5EF4-FFF2-40B4-BE49-F238E27FC236}">
                <a16:creationId xmlns:a16="http://schemas.microsoft.com/office/drawing/2014/main" id="{C55CA40E-086B-4C1C-89CC-3C89ED03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FBE16B-5943-4701-A283-57D35869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Dissemination and presentation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21B41C10-795F-4121-B032-C5A8198D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B5D68-1872-465F-A665-3BB46FFA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9B59EC-FF7B-46AE-A8BB-780A4FCC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FEAC0E-63C5-49A4-BF7B-CEB64547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 system is easiest to explain by following one edit from the browser to another user.</a:t>
            </a:r>
          </a:p>
        </p:txBody>
      </p:sp>
    </p:spTree>
    <p:extLst>
      <p:ext uri="{BB962C8B-B14F-4D97-AF65-F5344CB8AC3E}">
        <p14:creationId xmlns:p14="http://schemas.microsoft.com/office/powerpoint/2010/main" val="9601637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header-band">
            <a:extLst xmlns:a="http://schemas.openxmlformats.org/drawingml/2006/main">
              <a:ext uri="{FF2B5EF4-FFF2-40B4-BE49-F238E27FC236}">
                <a16:creationId xmlns:a16="http://schemas.microsoft.com/office/drawing/2014/main" id="{A2308DC3-ED71-40B6-BF68-26A39408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849F0F-7359-4FA9-ACD2-8491C998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"/>
            <a:ext cx="1123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3" name="footer-band">
            <a:extLst xmlns:a="http://schemas.openxmlformats.org/drawingml/2006/main">
              <a:ext uri="{FF2B5EF4-FFF2-40B4-BE49-F238E27FC236}">
                <a16:creationId xmlns:a16="http://schemas.microsoft.com/office/drawing/2014/main" id="{B8570756-EF35-4096-897A-E27325DB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0339E-9F6E-4FA2-AA5A-5E48FE9E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008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DBMS Project — Review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197C4B-A3D0-4D80-BB90-0CAC77B5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600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DF99D1-AF04-4CE4-AA0E-10FF94CD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project demonstrates a complete path from a user’s edit to a shared, stored document.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B1A394-03C8-4D0F-9538-639FCA20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14600"/>
            <a:ext cx="17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22E5F6-DC79-4143-89FF-F642956B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1023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server checks who can edit before it accepts live operations.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974D03-6BA1-4FE2-A112-A1355636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86100"/>
            <a:ext cx="17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5B36C9-BDC1-40A7-8230-4BF83EF0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1023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custom CRDT gives replicas a deterministic way to converge.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0F5C6E-2379-4C5D-9F4D-86A0AFB4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57600"/>
            <a:ext cx="17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0A5561-2288-404A-BD0A-7E263A18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57600"/>
            <a:ext cx="1023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PostgreSQL stores the document state and its history for later review.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2C2FD1-7411-48B3-84BE-2750FD26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86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8C8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C88"/>
                </a:solidFill>
                <a:latin typeface="Arial"/>
                <a:ea typeface="Arial"/>
                <a:cs typeface="Arial"/>
              </a:rPr>
              <a:t>The result is a working educational system that makes its database and collaboration choices visible and explainable.</a:t>
            </a:r>
          </a:p>
        </p:txBody>
      </p:sp>
    </p:spTree>
    <p:extLst>
      <p:ext uri="{BB962C8B-B14F-4D97-AF65-F5344CB8AC3E}">
        <p14:creationId xmlns:p14="http://schemas.microsoft.com/office/powerpoint/2010/main" val="19649545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2026-10-09T07:09:04.0740000Z</dcterms:created>
  <dcterms:modified xsi:type="dcterms:W3CDTF">2026-10-09T07:09:04.0740000Z</dcterms:modified>
</coreProperties>
</file>