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3c43c7123464b" /><Relationship Type="http://schemas.openxmlformats.org/officeDocument/2006/relationships/extended-properties" Target="/docProps/app.xml" Id="Re84eda3760f14cea" /><Relationship Type="http://schemas.openxmlformats.org/officeDocument/2006/relationships/officeDocument" Target="/ppt/presentation.xml" Id="R11f5f8071c29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5f3e5e6ee42f0"/>
  </p:sldMasterIdLst>
  <p:notesMasterIdLst>
    <p:notesMasterId xmlns:r="http://schemas.openxmlformats.org/officeDocument/2006/relationships" r:id="R5d89e4f4a64f41a1"/>
  </p:notesMasterIdLst>
  <p:sldIdLst>
    <p:sldId xmlns:r="http://schemas.openxmlformats.org/officeDocument/2006/relationships" id="256" r:id="Rb4047166841142d0"/>
    <p:sldId xmlns:r="http://schemas.openxmlformats.org/officeDocument/2006/relationships" id="257" r:id="Reb1014b387b94710"/>
    <p:sldId xmlns:r="http://schemas.openxmlformats.org/officeDocument/2006/relationships" id="258" r:id="Rfd4158d681134fbe"/>
    <p:sldId xmlns:r="http://schemas.openxmlformats.org/officeDocument/2006/relationships" id="259" r:id="R10ee460ee64e4406"/>
    <p:sldId xmlns:r="http://schemas.openxmlformats.org/officeDocument/2006/relationships" id="260" r:id="R1148ae811eee435a"/>
    <p:sldId xmlns:r="http://schemas.openxmlformats.org/officeDocument/2006/relationships" id="261" r:id="Rd8dbca6efac04fa2"/>
    <p:sldId xmlns:r="http://schemas.openxmlformats.org/officeDocument/2006/relationships" id="262" r:id="R7a0643a1a8914c6a"/>
    <p:sldId xmlns:r="http://schemas.openxmlformats.org/officeDocument/2006/relationships" id="263" r:id="Rf3631166fb914986"/>
    <p:sldId xmlns:r="http://schemas.openxmlformats.org/officeDocument/2006/relationships" id="264" r:id="R1533b6727fb44d30"/>
    <p:sldId xmlns:r="http://schemas.openxmlformats.org/officeDocument/2006/relationships" id="265" r:id="Rd23620f5497044c8"/>
    <p:sldId xmlns:r="http://schemas.openxmlformats.org/officeDocument/2006/relationships" id="266" r:id="R1b946df1b78d455c"/>
    <p:sldId xmlns:r="http://schemas.openxmlformats.org/officeDocument/2006/relationships" id="267" r:id="Rfc05563369c448e0"/>
    <p:sldId xmlns:r="http://schemas.openxmlformats.org/officeDocument/2006/relationships" id="268" r:id="Rdd709069e18f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5fcaa6b2a4618" /><Relationship Type="http://schemas.openxmlformats.org/officeDocument/2006/relationships/slideMaster" Target="/ppt/slideMasters/slideMaster1.xml" Id="R5a15f3e5e6ee42f0" /><Relationship Type="http://schemas.openxmlformats.org/officeDocument/2006/relationships/notesMaster" Target="/ppt/notesMasters/notesMaster1.xml" Id="R5d89e4f4a64f41a1" /><Relationship Type="http://schemas.openxmlformats.org/officeDocument/2006/relationships/presProps" Target="/ppt/presProps.xml" Id="R2c001dcb84e44fce" /><Relationship Type="http://schemas.openxmlformats.org/officeDocument/2006/relationships/tableStyles" Target="/ppt/tableStyles.xml" Id="Rf6e9748d624d47e2" /><Relationship Type="http://schemas.openxmlformats.org/officeDocument/2006/relationships/slide" Target="/ppt/slides/slide1.xml" Id="Rb4047166841142d0" /><Relationship Type="http://schemas.openxmlformats.org/officeDocument/2006/relationships/slide" Target="/ppt/slides/slide2.xml" Id="Reb1014b387b94710" /><Relationship Type="http://schemas.openxmlformats.org/officeDocument/2006/relationships/slide" Target="/ppt/slides/slide3.xml" Id="Rfd4158d681134fbe" /><Relationship Type="http://schemas.openxmlformats.org/officeDocument/2006/relationships/slide" Target="/ppt/slides/slide4.xml" Id="R10ee460ee64e4406" /><Relationship Type="http://schemas.openxmlformats.org/officeDocument/2006/relationships/slide" Target="/ppt/slides/slide5.xml" Id="R1148ae811eee435a" /><Relationship Type="http://schemas.openxmlformats.org/officeDocument/2006/relationships/slide" Target="/ppt/slides/slide6.xml" Id="Rd8dbca6efac04fa2" /><Relationship Type="http://schemas.openxmlformats.org/officeDocument/2006/relationships/slide" Target="/ppt/slides/slide7.xml" Id="R7a0643a1a8914c6a" /><Relationship Type="http://schemas.openxmlformats.org/officeDocument/2006/relationships/slide" Target="/ppt/slides/slide8.xml" Id="Rf3631166fb914986" /><Relationship Type="http://schemas.openxmlformats.org/officeDocument/2006/relationships/slide" Target="/ppt/slides/slide9.xml" Id="R1533b6727fb44d30" /><Relationship Type="http://schemas.openxmlformats.org/officeDocument/2006/relationships/slide" Target="/ppt/slides/slide10.xml" Id="Rd23620f5497044c8" /><Relationship Type="http://schemas.openxmlformats.org/officeDocument/2006/relationships/slide" Target="/ppt/slides/slide11.xml" Id="R1b946df1b78d455c" /><Relationship Type="http://schemas.openxmlformats.org/officeDocument/2006/relationships/slide" Target="/ppt/slides/slide12.xml" Id="Rfc05563369c448e0" /><Relationship Type="http://schemas.openxmlformats.org/officeDocument/2006/relationships/slide" Target="/ppt/slides/slide13.xml" Id="Rdd709069e18f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a8522c17e9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933956cd74597" /><Relationship Type="http://schemas.openxmlformats.org/officeDocument/2006/relationships/notesMaster" Target="/ppt/notesMasters/notesMaster1.xml" Id="Rf82d6044107b4c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cfc1a4fc843c8" /><Relationship Type="http://schemas.openxmlformats.org/officeDocument/2006/relationships/notesMaster" Target="/ppt/notesMasters/notesMaster1.xml" Id="R7d504bf2aa4a4e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cb3c61e55e45b9" /><Relationship Type="http://schemas.openxmlformats.org/officeDocument/2006/relationships/notesMaster" Target="/ppt/notesMasters/notesMaster1.xml" Id="R82bde008b13b4d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685e2893a44db4" /><Relationship Type="http://schemas.openxmlformats.org/officeDocument/2006/relationships/notesMaster" Target="/ppt/notesMasters/notesMaster1.xml" Id="R28a7863c7f6340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7b8f1549b44ebc" /><Relationship Type="http://schemas.openxmlformats.org/officeDocument/2006/relationships/notesMaster" Target="/ppt/notesMasters/notesMaster1.xml" Id="R9757695ae2bc40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09712d73eb4096" /><Relationship Type="http://schemas.openxmlformats.org/officeDocument/2006/relationships/notesMaster" Target="/ppt/notesMasters/notesMaster1.xml" Id="Rfcd99e4594d24a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68bae5b92d4f3a" /><Relationship Type="http://schemas.openxmlformats.org/officeDocument/2006/relationships/notesMaster" Target="/ppt/notesMasters/notesMaster1.xml" Id="R3f25f6be72a14b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4b2ad5158c4f7b" /><Relationship Type="http://schemas.openxmlformats.org/officeDocument/2006/relationships/notesMaster" Target="/ppt/notesMasters/notesMaster1.xml" Id="R839df36ff0d647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282dd51d9c4b06" /><Relationship Type="http://schemas.openxmlformats.org/officeDocument/2006/relationships/notesMaster" Target="/ppt/notesMasters/notesMaster1.xml" Id="R31d346ab8bdf4a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42cf2af9b14b76" /><Relationship Type="http://schemas.openxmlformats.org/officeDocument/2006/relationships/notesMaster" Target="/ppt/notesMasters/notesMaster1.xml" Id="Rb9dec94bda7d4e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d9eaa8ef214acf" /><Relationship Type="http://schemas.openxmlformats.org/officeDocument/2006/relationships/notesMaster" Target="/ppt/notesMasters/notesMaster1.xml" Id="Rbc46e049917843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9a6bc0dc754d25" /><Relationship Type="http://schemas.openxmlformats.org/officeDocument/2006/relationships/notesMaster" Target="/ppt/notesMasters/notesMaster1.xml" Id="Rb61de09709e74b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92bbf7b0de4c5f" /><Relationship Type="http://schemas.openxmlformats.org/officeDocument/2006/relationships/notesMaster" Target="/ppt/notesMasters/notesMaster1.xml" Id="Rea2451f35d6346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efda6025b4c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02d901a7d40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49ddb110c4a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98c5319d247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0049fd27941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c187f0f6948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CAC683-6EA8-48E5-AF24-533819CF8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6B4113-9A0F-4030-BE81-9A73A0A1BA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FB922A-9F11-490D-BB83-6EC66EA22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55E6D2-974A-49A8-B6C5-79C97BB93F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733E5D-9831-4F34-B232-E3ED403A9D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F11F3F-231E-4393-99D9-F9AEBDEE6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319147-3F80-480B-9F75-9EE5F5AF77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48C314-31A1-43FD-B86F-E4EF4A877E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4F3D94-C0DE-460F-9C7D-47A095E53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26EB04-1D81-4F3B-8183-F59A6784B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1b7958cfed40d9" /><Relationship Type="http://schemas.openxmlformats.org/officeDocument/2006/relationships/slideLayout" Target="/ppt/slideLayouts/slideLayout1.xml" Id="R13078fbadaa349ec" /><Relationship Type="http://schemas.openxmlformats.org/officeDocument/2006/relationships/slideLayout" Target="/ppt/slideLayouts/slideLayout2.xml" Id="Rccc41c6f0cb14a0e" /><Relationship Type="http://schemas.openxmlformats.org/officeDocument/2006/relationships/slideLayout" Target="/ppt/slideLayouts/slideLayout3.xml" Id="Rad7871aef34842a6" /><Relationship Type="http://schemas.openxmlformats.org/officeDocument/2006/relationships/slideLayout" Target="/ppt/slideLayouts/slideLayout4.xml" Id="Rc5189431b18f433c" /><Relationship Type="http://schemas.openxmlformats.org/officeDocument/2006/relationships/slideLayout" Target="/ppt/slideLayouts/slideLayout5.xml" Id="Rdb5b87c971954400" /><Relationship Type="http://schemas.openxmlformats.org/officeDocument/2006/relationships/slideLayout" Target="/ppt/slideLayouts/slideLayout6.xml" Id="R35acfbbaf57149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78fbadaa349ec"/>
    <p:sldLayoutId xmlns:r="http://schemas.openxmlformats.org/officeDocument/2006/relationships" id="2147483650" r:id="Rccc41c6f0cb14a0e"/>
    <p:sldLayoutId xmlns:r="http://schemas.openxmlformats.org/officeDocument/2006/relationships" id="2147483651" r:id="Rad7871aef34842a6"/>
    <p:sldLayoutId xmlns:r="http://schemas.openxmlformats.org/officeDocument/2006/relationships" id="2147483652" r:id="Rc5189431b18f433c"/>
    <p:sldLayoutId xmlns:r="http://schemas.openxmlformats.org/officeDocument/2006/relationships" id="2147483653" r:id="Rdb5b87c971954400"/>
    <p:sldLayoutId xmlns:r="http://schemas.openxmlformats.org/officeDocument/2006/relationships" id="2147483654" r:id="R35acfbbaf57149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f643878e1465e" /><Relationship Type="http://schemas.openxmlformats.org/officeDocument/2006/relationships/notesSlide" Target="/ppt/notesSlides/notesSlide1.xml" Id="Rbf30604aa1c5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809bd8cce4b76" /><Relationship Type="http://schemas.openxmlformats.org/officeDocument/2006/relationships/notesSlide" Target="/ppt/notesSlides/notesSlide2.xml" Id="R3e0d6863bb3e48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9726bd9c04868" /><Relationship Type="http://schemas.openxmlformats.org/officeDocument/2006/relationships/notesSlide" Target="/ppt/notesSlides/notesSlide3.xml" Id="Rcd65007da5bf45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b4a4a445b4a1c" /><Relationship Type="http://schemas.openxmlformats.org/officeDocument/2006/relationships/notesSlide" Target="/ppt/notesSlides/notesSlide4.xml" Id="R5ade26720b51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e2a798611486c" /><Relationship Type="http://schemas.openxmlformats.org/officeDocument/2006/relationships/notesSlide" Target="/ppt/notesSlides/notesSlide5.xml" Id="R8d9364ca412646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25db234124a13" /><Relationship Type="http://schemas.openxmlformats.org/officeDocument/2006/relationships/notesSlide" Target="/ppt/notesSlides/notesSlide6.xml" Id="R93c6b42b8bee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17fbe2fd64501" /><Relationship Type="http://schemas.openxmlformats.org/officeDocument/2006/relationships/notesSlide" Target="/ppt/notesSlides/notesSlide7.xml" Id="R09b5b102007b49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bb9c3bb374432" /><Relationship Type="http://schemas.openxmlformats.org/officeDocument/2006/relationships/notesSlide" Target="/ppt/notesSlides/notesSlide8.xml" Id="R7f029263c87249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c138b35b646df" /><Relationship Type="http://schemas.openxmlformats.org/officeDocument/2006/relationships/notesSlide" Target="/ppt/notesSlides/notesSlide9.xml" Id="R86660c5f98354d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0ccd8ce1c4f9c" /><Relationship Type="http://schemas.openxmlformats.org/officeDocument/2006/relationships/notesSlide" Target="/ppt/notesSlides/notesSlide10.xml" Id="R5e7435725e734b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ef8c51d2d4d04" /><Relationship Type="http://schemas.openxmlformats.org/officeDocument/2006/relationships/notesSlide" Target="/ppt/notesSlides/notesSlide11.xml" Id="R1fbdad6309b24f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c37cc7f6040a6" /><Relationship Type="http://schemas.openxmlformats.org/officeDocument/2006/relationships/notesSlide" Target="/ppt/notesSlides/notesSlide12.xml" Id="R22769b18303a4b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e18dd046e4fd6" /><Relationship Type="http://schemas.openxmlformats.org/officeDocument/2006/relationships/notesSlide" Target="/ppt/notesSlides/notesSlide13.xml" Id="R5c4b3949644743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B8B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8FE2-97E0-4363-AEA4-17E7D8CB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57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Collaborative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EDFE7-05E1-4B3F-A4CE-031781C3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3" name="team-footer">
            <a:extLst xmlns:a="http://schemas.openxmlformats.org/drawingml/2006/main">
              <a:ext uri="{FF2B5EF4-FFF2-40B4-BE49-F238E27FC236}">
                <a16:creationId xmlns:a16="http://schemas.microsoft.com/office/drawing/2014/main" id="{059AC917-669E-417B-8B33-E3DBC118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CAC0D-DB5A-4790-925E-AF5A0811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Yusuf Shereef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Bhavesh Kumar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Madamshetty Pruthvi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Syed Mohammed Faizan</a:t>
            </a:r>
          </a:p>
        </p:txBody>
      </p:sp>
    </p:spTree>
    <p:extLst>
      <p:ext uri="{BB962C8B-B14F-4D97-AF65-F5344CB8AC3E}">
        <p14:creationId xmlns:p14="http://schemas.microsoft.com/office/powerpoint/2010/main" val="1542992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FF615A5-5CDE-43F1-88C6-06467537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E61CF-87C3-4F0A-AD80-321DA6C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and project goal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0A7D362-41FB-4EEC-9740-99D079AC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32C7D-ABE6-427F-B40B-12932CA6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234A5-AC17-49C8-B98A-4C27B844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BF603-8DAA-4376-A591-2A55B853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DF13D-FFB8-41E5-AD92-AB0AE76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two people edit a shared document, saving a whole new copy can replace someone else’s recent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29FFE-8577-400E-9AF7-80176F3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17AFD-8DBB-4D2B-B5D6-5BCF899E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browser based document system where edits travel as small operations, merge on the server, and appear for collaborators.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9408-7018-4B2C-88EC-E70D06D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F193F-3998-4EFB-A32E-DD6F970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5D10D-29FF-44F5-A1AE-D0477DF7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a shared document consistent while people edit at the same time, with saved history and role based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6CC77-AD55-48D2-8005-9E9EC99F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project also demonstrates how a relational database supports users, workspaces, documents, edit history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14184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747CE41-AA84-4BB6-92D2-7D1CD33B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28A6F-D8C8-488F-8922-45416157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we built the project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897B498-F3F1-4D05-9558-E80DACE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0D57E-055C-49D9-97A5-188FB720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857E3-92DD-4C98-9E4D-63F1AF1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149D6-64D7-4506-BB9F-F99E1733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built the application in layers so each part has a clear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6317E-23A6-4FF0-9FFA-8B6AA8EA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28F3D-E0B1-4868-8AC1-C0B5275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provide the document editor, formatting controls, channel pages and AI writing panel.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F1EC2-D977-47CC-8835-C1F95B80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Application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09B98-7877-4B97-AAD5-5027BFA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Node.js and Express handle sign in, channels, permissions and saved document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C8041-CF4C-4148-B589-3BE1899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Live collaboration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52E3C-CA78-45C6-8E59-42140F4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Socket.IO carries edit operations and presence updates between people in the same document.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97568-D923-4EC8-8CE5-FF288B3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50BAE-A5C1-415C-81FE-0D6B5A6C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Data and implementation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401A8-6440-4FB8-9323-8C4F1BBD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DCFAC-701C-4397-8651-9D586C5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accounts, memberships, documents, operation history and saved versions.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23665-C130-4733-A845-966E46C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1CF84-68F5-4AD0-8381-C99EE6F6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48225"/>
            <a:ext cx="1014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character based CRDT was written for this project instead of using a ready made CRDT package.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B2221-5E13-43BC-A28E-3AB27428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89554-B76D-46FC-B326-B21134A8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team connected the editor to the API and socket events, then checked the CRDT behavior with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1286246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24DE82-2F92-4F5D-87C6-DB34D7B7D95C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9048750" y="37433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330B0-AC79-482C-ABF7-62967681CAC6}"/>
              </a:ext>
            </a:extLst>
          </p:cNvPr>
          <p:cNvCxnSpPr>
            <a:stCxn xmlns:a="http://schemas.openxmlformats.org/drawingml/2006/main" id="29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5762625" y="3252788"/>
            <a:ext cx="666750" cy="13763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47DA1-FDC7-4582-A517-3E31540A0163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024563" y="2343150"/>
            <a:ext cx="404813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D0C11-BCB2-43DF-9D04-49F69D9BC04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762625" y="2343150"/>
            <a:ext cx="261938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82FA1-3FF3-44FD-95D6-AEC0AB07041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249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262DA-6824-4DA0-94A6-69C260DFEA0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008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06DDF-B855-4A53-8F59-6E62973A491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767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0BAC4-60F5-4992-828D-B3528DC5047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526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sp>
        <p:nvSpPr>
          <p:cNvPr id="4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DDDF463-55E9-4C5D-8BDD-C34CB6AD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18BEA-0D20-4820-8620-48D5AA9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system workflow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203322C-4B3F-4BFF-ADC3-51833AED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2ACA9-551C-4873-BD01-26DC94D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9E473-42ED-4E64-8353-D5EE138A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F3738-E2ED-4888-AEC0-45930C81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From sign-in to a shared, saved document, including the project’s AI and language services.</a:t>
            </a:r>
          </a:p>
        </p:txBody>
      </p:sp>
      <p:sp>
        <p:nvSpPr>
          <p:cNvPr id="7" name="Users">
            <a:extLst xmlns:a="http://schemas.openxmlformats.org/drawingml/2006/main">
              <a:ext uri="{FF2B5EF4-FFF2-40B4-BE49-F238E27FC236}">
                <a16:creationId xmlns:a16="http://schemas.microsoft.com/office/drawing/2014/main" id="{D8AEB23F-DE39-4456-A345-9CFFCB60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B0B79-8348-49AD-B6FA-7E5DF29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767A9-2FBA-43F7-84FC-88C50CE4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Sign in; join a channel; open a document</a:t>
            </a:r>
          </a:p>
        </p:txBody>
      </p:sp>
      <p:sp>
        <p:nvSpPr>
          <p:cNvPr id="10" name="React interface">
            <a:extLst xmlns:a="http://schemas.openxmlformats.org/drawingml/2006/main">
              <a:ext uri="{FF2B5EF4-FFF2-40B4-BE49-F238E27FC236}">
                <a16:creationId xmlns:a16="http://schemas.microsoft.com/office/drawing/2014/main" id="{9D984B91-1974-4F15-A81F-B941C355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0E2FB-F241-4302-95C7-DBB5AEB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505A1-DA62-4E0D-8DC3-C04A7DF7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Edit, format and request writing help</a:t>
            </a:r>
          </a:p>
        </p:txBody>
      </p:sp>
      <p:sp>
        <p:nvSpPr>
          <p:cNvPr id="13" name="Express + Socket.IO">
            <a:extLst xmlns:a="http://schemas.openxmlformats.org/drawingml/2006/main">
              <a:ext uri="{FF2B5EF4-FFF2-40B4-BE49-F238E27FC236}">
                <a16:creationId xmlns:a16="http://schemas.microsoft.com/office/drawing/2014/main" id="{96BF5B24-7F44-4BD1-AF97-630B6812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B705A-DA14-4004-87E5-BE10127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Express + Socket.IO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0B069-8A2F-4BE9-9353-AFE5E2A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Checks identity and role; handles REST and live events</a:t>
            </a:r>
          </a:p>
        </p:txBody>
      </p:sp>
      <p:sp>
        <p:nvSpPr>
          <p:cNvPr id="16" name="TextCRDT">
            <a:extLst xmlns:a="http://schemas.openxmlformats.org/drawingml/2006/main">
              <a:ext uri="{FF2B5EF4-FFF2-40B4-BE49-F238E27FC236}">
                <a16:creationId xmlns:a16="http://schemas.microsoft.com/office/drawing/2014/main" id="{CD6739B1-D9DB-4B56-9031-5E65B8B3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8B429-CE49-4C68-9FE8-08EB8011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TextCRDT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3D510-FF51-4261-8ECD-C94EC649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Applies insert/delete operations; orders concurrent edits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787CB400-B360-4F2A-AC5D-DCE5F0C0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98525-E8F6-4D25-B6A6-3E52E3DD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BC634-0A17-41D0-B6E1-65EE9A4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Accounts, channels, documents, operations and versions</a:t>
            </a:r>
          </a:p>
        </p:txBody>
      </p:sp>
      <p:sp>
        <p:nvSpPr>
          <p:cNvPr id="26" name="Document management">
            <a:extLst xmlns:a="http://schemas.openxmlformats.org/drawingml/2006/main">
              <a:ext uri="{FF2B5EF4-FFF2-40B4-BE49-F238E27FC236}">
                <a16:creationId xmlns:a16="http://schemas.microsoft.com/office/drawing/2014/main" id="{FB23DDAF-F9AD-40A3-BC50-92572565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5238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B2EA20-524C-4D30-A87B-4CEF229D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479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Document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71F7A-7E45-40C2-BC1A-28B3D81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71825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Channel membership and role checks  •  document load/save  •  version history  •  preview and restore</a:t>
            </a:r>
          </a:p>
        </p:txBody>
      </p:sp>
      <p:sp>
        <p:nvSpPr>
          <p:cNvPr id="29" name="Writing and language request">
            <a:extLst xmlns:a="http://schemas.openxmlformats.org/drawingml/2006/main">
              <a:ext uri="{FF2B5EF4-FFF2-40B4-BE49-F238E27FC236}">
                <a16:creationId xmlns:a16="http://schemas.microsoft.com/office/drawing/2014/main" id="{A215154C-9131-4343-9229-9822D90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238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EFA70-6C00-4B4E-9396-BC178A95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Writing and language request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257FAB-D1A8-4EDE-A7E4-4FF92C7B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71825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grammar, similarity or writing actions through the application server.</a:t>
            </a:r>
          </a:p>
        </p:txBody>
      </p:sp>
      <p:sp>
        <p:nvSpPr>
          <p:cNvPr id="34" name="Local language services">
            <a:extLst xmlns:a="http://schemas.openxmlformats.org/drawingml/2006/main">
              <a:ext uri="{FF2B5EF4-FFF2-40B4-BE49-F238E27FC236}">
                <a16:creationId xmlns:a16="http://schemas.microsoft.com/office/drawing/2014/main" id="{E67E0AD1-7B22-4ABF-85CB-9011B2A8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3385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B4EED5-2C5E-4B82-A923-4F5B7694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language services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8B3FA4-CD53-43DA-90AC-502E123F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a local TF-IDF corpus checks similarity. If LanguageTool is down, one Gemini grammar fallback is attempted with a cooldown.</a:t>
            </a:r>
          </a:p>
        </p:txBody>
      </p:sp>
      <p:sp>
        <p:nvSpPr>
          <p:cNvPr id="37" name="Gemini API">
            <a:extLst xmlns:a="http://schemas.openxmlformats.org/drawingml/2006/main">
              <a:ext uri="{FF2B5EF4-FFF2-40B4-BE49-F238E27FC236}">
                <a16:creationId xmlns:a16="http://schemas.microsoft.com/office/drawing/2014/main" id="{B5031C26-A35E-45FA-94FC-44242A72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E1DE6E-4953-4454-A68C-8CE679B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95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7AF227-B598-4C74-BDE6-D5DE337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4342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server keeps GEMINI_API_KEY private and sends improve, paraphrase, summarize, translate and autocomplete requests. No local generative LLM is included.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33370D-36DF-44E3-A9D7-1B298AF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 returns documents, versions and AI responses. Socket.IO broadcasts accepted edits to connected collaborators.</a:t>
            </a:r>
          </a:p>
        </p:txBody>
      </p:sp>
      <p:sp>
        <p:nvSpPr>
          <p:cNvPr id="43" name="Shared outcome">
            <a:extLst xmlns:a="http://schemas.openxmlformats.org/drawingml/2006/main">
              <a:ext uri="{FF2B5EF4-FFF2-40B4-BE49-F238E27FC236}">
                <a16:creationId xmlns:a16="http://schemas.microsoft.com/office/drawing/2014/main" id="{2FC9E864-0AC7-4CC7-B76E-C2A939D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2E7776-91C9-455E-8192-8299E42A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483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outcome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B92441-A212-459C-8A41-AD320D2E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72175"/>
            <a:ext cx="834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Authorized edits converge through TextCRDT, persist in PostgreSQL and appear in each collaborator’s document.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0763F8-ED91-4A29-80C7-0B8A8C1B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334125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Evaluation: 13 CRDT unit tests; demonstrate concurrent editing in two sessions.</a:t>
            </a:r>
          </a:p>
        </p:txBody>
      </p:sp>
    </p:spTree>
    <p:extLst>
      <p:ext uri="{BB962C8B-B14F-4D97-AF65-F5344CB8AC3E}">
        <p14:creationId xmlns:p14="http://schemas.microsoft.com/office/powerpoint/2010/main" val="1012397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74D54-B5DE-4E14-99C3-8EB5935C72AB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2" idx="3"/>
          </p:cNvCxnSpPr>
          <p:nvPr/>
        </p:nvCxnSpPr>
        <p:spPr>
          <a:xfrm xmlns:a="http://schemas.openxmlformats.org/drawingml/2006/main">
            <a:off x="9444038" y="4391025"/>
            <a:ext cx="938213" cy="938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F4758-CB43-466D-B554-E634DA1BF58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05625" y="378142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9102C-8858-4E54-8B55-1EECE094E74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38450" y="2209800"/>
            <a:ext cx="8763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90326-B3C0-4E3D-84E4-E5289DF9B5C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38450" y="2100263"/>
            <a:ext cx="876300" cy="1095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sp>
        <p:nvSpPr>
          <p:cNvPr id="2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ED47CBCA-83C0-4657-AA79-2F14A7C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7848A-FE7A-44C7-9A9D-2D8B2F33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and language tools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6408944-CBBD-4089-85BB-59B489E8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8DA1D-1FF9-4090-86D3-B2F53750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356AE-A61C-4D40-A698-7179CB6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9937D-2C99-47D7-98C7-8D4AA4DD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each request to the service that provides that feature.</a:t>
            </a:r>
          </a:p>
        </p:txBody>
      </p:sp>
      <p:sp>
        <p:nvSpPr>
          <p:cNvPr id="7" name="Editor request">
            <a:extLst xmlns:a="http://schemas.openxmlformats.org/drawingml/2006/main">
              <a:ext uri="{FF2B5EF4-FFF2-40B4-BE49-F238E27FC236}">
                <a16:creationId xmlns:a16="http://schemas.microsoft.com/office/drawing/2014/main" id="{5A1E8B26-74A0-4DED-81E0-484A19FF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B1250-CE3B-4192-B31A-73D6B2E0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Editor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FBAD6-9ECE-472D-ADEF-FAF78FE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57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Grammar, similarity or an AI writing action</a:t>
            </a:r>
          </a:p>
        </p:txBody>
      </p:sp>
      <p:sp>
        <p:nvSpPr>
          <p:cNvPr id="10" name="Local services">
            <a:extLst xmlns:a="http://schemas.openxmlformats.org/drawingml/2006/main">
              <a:ext uri="{FF2B5EF4-FFF2-40B4-BE49-F238E27FC236}">
                <a16:creationId xmlns:a16="http://schemas.microsoft.com/office/drawing/2014/main" id="{37C0C8DB-E11C-4391-B09E-346E05C8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67A50-CF04-4915-BD7F-39522CF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AEE4C-CB58-4D33-8AEB-19FDEE5B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19275"/>
            <a:ext cx="29622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local TF-IDF corpus checks text similarity. If LanguageTool is unavailable, one Gemini grammar fallback is attempted with a cooldown.</a:t>
            </a:r>
          </a:p>
        </p:txBody>
      </p:sp>
      <p:sp>
        <p:nvSpPr>
          <p:cNvPr id="13" name="App server">
            <a:extLst xmlns:a="http://schemas.openxmlformats.org/drawingml/2006/main">
              <a:ext uri="{FF2B5EF4-FFF2-40B4-BE49-F238E27FC236}">
                <a16:creationId xmlns:a16="http://schemas.microsoft.com/office/drawing/2014/main" id="{8378C736-58D4-486A-9490-6490213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DD347-6341-4078-B3C2-57550306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F195D-3041-4EE3-B891-69417D8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Keeps GEMINI_API_KEY private; applies per-user rate limits</a:t>
            </a:r>
          </a:p>
        </p:txBody>
      </p:sp>
      <p:sp>
        <p:nvSpPr>
          <p:cNvPr id="16" name="Gemini API">
            <a:extLst xmlns:a="http://schemas.openxmlformats.org/drawingml/2006/main">
              <a:ext uri="{FF2B5EF4-FFF2-40B4-BE49-F238E27FC236}">
                <a16:creationId xmlns:a16="http://schemas.microsoft.com/office/drawing/2014/main" id="{782AD07B-7598-4D41-A150-B4588EB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FF64D-23DD-4565-AC84-B2D74505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D0CCD-4F27-4884-B893-7DDFE170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Improve, paraphrase, summarize, translate and autocomplete</a:t>
            </a:r>
          </a:p>
        </p:txBody>
      </p:sp>
      <p:sp>
        <p:nvSpPr>
          <p:cNvPr id="22" name="When Gemini is unavailable">
            <a:extLst xmlns:a="http://schemas.openxmlformats.org/drawingml/2006/main">
              <a:ext uri="{FF2B5EF4-FFF2-40B4-BE49-F238E27FC236}">
                <a16:creationId xmlns:a16="http://schemas.microsoft.com/office/drawing/2014/main" id="{E3B2E7F5-5B9A-4406-B9B6-84CBBA5E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F9634-2CAF-44F0-AF6F-94C15C39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Gemini is unavailable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2C29A-57E1-4099-9F67-F0B64C8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387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Summary shows an extractive preview. Autocomplete returns no text. Paraphrase and translation show an unavailable message. There is no local generative LLM fallback in this build.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CCF6FD-0D29-4127-9A46-ED57A2F3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GitHub Pages can host the browser interface only. The API server, database and LanguageTool service must be hosted separately; configure LANGUAGETOOL_URL to reach that service.</a:t>
            </a:r>
          </a:p>
        </p:txBody>
      </p:sp>
    </p:spTree>
    <p:extLst>
      <p:ext uri="{BB962C8B-B14F-4D97-AF65-F5344CB8AC3E}">
        <p14:creationId xmlns:p14="http://schemas.microsoft.com/office/powerpoint/2010/main" val="2003121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C6A5AFBA-5222-43F5-A7B4-C352534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37654-6A4A-4A26-9E34-0A7B46C6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FB7B1CC-A3F2-411A-9ADF-426F122F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896BE-E959-4815-94A2-7397A3C6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6ACD7-0974-4EB1-9B35-12B67A2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C64F1-2853-4E14-862E-457AE8DC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PostgreSQL keeps the project’s records connected with foreign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AFE3B-F0D2-4834-B419-978747A8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2F0BA-4F04-4C99-BC21-55F1A297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C405A-1C00-480D-823E-70AFC07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049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Account identity and password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24F19-36F8-4251-9825-42A22446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channels + channel_members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F8DD2-F425-45F5-A659-9769BB9B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spaces and each member’s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E6C5F-D21A-4426-99D6-A314AFCD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06D0B-EA7D-4125-809E-BB265011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D02BE-F640-43F4-AC48-170EE072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432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text, formatted content and CRDT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45ABD-DF82-4DA4-AEE1-E01B555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document_operations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77A3E-C2BC-4C19-88FC-42D814D9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Accepted insert / delete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5047D-B302-4020-B9CA-73B938A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E137B-0D36-4F49-871E-4501209B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12710-7F9B-4604-BF03-801273B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snapshots with author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C984D-4F32-4509-84F9-0124B371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invitations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19054-BCC1-45A0-B318-92E7F8FE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0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Pending or completed channel invitations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484E4-8A1D-439D-8C71-316D0131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channel has many members and documents. A document has many operations and versions.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8C426-5572-4FBF-8A22-404CB09D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schema uses unique constraints and indexes for memberships, operation IDs, document lists and version history.</a:t>
            </a:r>
          </a:p>
        </p:txBody>
      </p:sp>
    </p:spTree>
    <p:extLst>
      <p:ext uri="{BB962C8B-B14F-4D97-AF65-F5344CB8AC3E}">
        <p14:creationId xmlns:p14="http://schemas.microsoft.com/office/powerpoint/2010/main" val="531939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77858-F9BF-4709-97EA-544A1D90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BF072-BD9D-47CF-825D-659A718A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simultaneous edits are reconciled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897E018-2A51-488F-9982-4D54FEEF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2C432-E769-43B0-B2BA-E51BD6DC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2D52C-7664-4CC0-916A-07D3852C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6F94C-C61D-450F-9BBA-58E1AC4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Each inserted character has an ID and a reference to the character before it. Deletes leave a tombstone.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C1AA3-B603-44DC-9800-AA732B84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Starting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73521-720E-4B7B-AC64-684C7D91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3523F-E3B9-4F19-9430-B6F4A1CF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Two people insert after A at nearly the same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0F39B-39EF-4482-B059-71E9D84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A4FA8-E538-4627-8F08-C3BFB86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1: insert X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9F409-0F37-4FB2-A269-4127B183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2AB7F-7CC3-4DC1-B215-17B89156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2: insert Y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user2:1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1C27A-295B-413B-9EA0-A7B452B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Both replicas receive both operations. The CRDT sorts concurrent siblings by operation ID, so delivery order does not decide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D2E2E-51FA-49C2-8B46-AEFD899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CBD14-1D15-4986-A2D2-77D71CB2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8D796-AC9D-416E-ABE6-51DBF11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deleted character stays internally as a tombstone so later operations can still refer to its ID.</a:t>
            </a:r>
          </a:p>
        </p:txBody>
      </p:sp>
    </p:spTree>
    <p:extLst>
      <p:ext uri="{BB962C8B-B14F-4D97-AF65-F5344CB8AC3E}">
        <p14:creationId xmlns:p14="http://schemas.microsoft.com/office/powerpoint/2010/main" val="945899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E1A54592-CC55-4441-B665-BD7EBB63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EFD65-35C0-40C4-9B66-9ED15B9C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user can do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DC924F6A-A72B-4F36-83D1-11AF697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9304A-53B1-4456-A4A0-0D8E35C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7316F-B2A6-46B0-A515-59A00847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33EA0-472E-4308-994F-471094C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7F375-8EF6-4919-90C1-B15A4C91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F3BE9-6B0F-47CB-A829-DA32D585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Create channels and shared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DA821-309F-424F-A2E0-089CF4A6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F4A55-2F2D-46C4-B83B-D13D1951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See who is in a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8907E-E258-4914-90A7-FE849D99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357BA-C05F-4EA2-A1A1-87FCD2C4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live with other collaborators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28A79-394A-4A45-94D6-3D4526AD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037F3-D687-47EB-A497-2B644E27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D5822-91EB-42F5-9B88-F2FA9A0B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Assign admin, editor or viewer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D8005-F67B-4398-93E4-0CEC8ECB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CB9AA-6BA6-4671-84A3-9F2F4C36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permissions on the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8B5D3-F31C-4FF3-95A6-57FCADFF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432E3-F935-4C1D-86F2-1AE2ED74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Invite and manage channel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96C03-8472-44E2-AC82-A8D98FD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2E46F-CF30-4328-9144-EF7C6E4A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9BEEF-61BF-461D-A345-08DBD9BC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Format text in the editor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DC972-DDF2-49D8-81E9-5C110CF3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91E0D-2F1D-42F9-85F3-A0E69AD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preview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EAA4E-C6B6-40E4-BDCA-A18C04BA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58E63-BAF1-4A92-8995-66781D88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Restore an earlier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AA7C83-79D6-4360-AA55-B4A1CEF4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0B835-3B17-4D2C-8C98-3043FD23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A0458-88F5-4D1E-91EF-B38BA218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Viewers can read; admins and editors can make changes. The server enforces the same rule for API and socket actions.</a:t>
            </a:r>
          </a:p>
        </p:txBody>
      </p:sp>
    </p:spTree>
    <p:extLst>
      <p:ext uri="{BB962C8B-B14F-4D97-AF65-F5344CB8AC3E}">
        <p14:creationId xmlns:p14="http://schemas.microsoft.com/office/powerpoint/2010/main" val="151154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F3009CA-D602-4555-BD90-6C01BB90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81196-5353-4D64-8111-283C7FD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new, and how the method adapts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40810D57-33C2-452B-9BE4-B5227158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858FE-6543-4B01-BCAF-9631B562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83822-DA70-4D8A-AEDA-62E01121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FA32F-0352-4522-B83F-A9BF14CE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main contribution is the way the project combines document management with a custom, inspectable collaboration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C38D9-4515-4835-9FD5-B8A53C1F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is new in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BC90B-E8DF-47B9-B7DE-36E2874A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56BEB-932C-4508-84DA-C52C8AE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Edits are represented as operations instead of replacing the whole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096A5-EFC4-4F38-BBB6-75A6A121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A3D73-B865-46B0-826C-23FF1AFF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CRDT logic is small enough to inspect and explain in a DBMS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B6AA3-DEE0-4858-9E6C-E0859D79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BE750-BA7D-47CE-BCEF-C28A0A2B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90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history and manual versions make changes easier to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7AB02-FA33-4624-AC20-E51E0F4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23286-C536-4DB2-B4D9-7C22C7B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How it adapts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C6666-8326-4962-A2EB-51EB33B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3D4B5-24D9-40AE-AF0C-5D193AB6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More collaborators join through document rooms and channel membership.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B7003-45C4-465B-A55D-A1A4AF0D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1388E-F439-40BF-B50B-D4E7882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New document features can use the existing API, role checks and tables.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9F9BC-98E4-4B60-A1D5-29582995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290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F15EE-2E54-402F-8EC6-9C43C2A4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71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changes can add tables or modules without changing the core edit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D24E3-D313-47B3-AD10-5FF15840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Current scope: one server keeps active CRDTs in memory; this project does not provide offline multi-server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599925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2CA2A39-50F4-489F-A499-2D4AABCE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F828D-4246-40D2-BA93-FEFF634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 evaluation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6FCC1B7E-02EA-4324-8C46-5CBE5C71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C51BF-9884-4676-8CC8-D19F0B6F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ACD23-6940-40D1-A5E6-0511DEA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24236-9377-4BF9-80D5-FC4D060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checked correctness at the operation level and build readiness at the application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298FE-DF83-42D4-AF44-62BC9F9C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7780-C0C7-48D7-9734-195909B8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05E51-DC73-4977-9912-FA112A77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verifies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6BF1F-7DA3-46C0-B5F7-BD063F2C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BB8E3-2EAE-464A-8D68-E3827089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65051-3402-434D-881F-03EC579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CRDT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4DDFA-2C13-4A8A-AFDA-FC409390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Insert, delete, duplicate IDs, pending dependencies, deterministic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F139D-1A1F-4691-8DBC-F7B06D2D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13 tests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6724B-B586-4C37-BF63-18536067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B1D61-C53B-40CC-BD09-5466C84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compile the client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13C2B-00F7-479B-9069-67490A3D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 succeeds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C95FC-C8E7-4DF4-BB51-3781B21F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8D561-C0B2-4A3A-BDC6-CE8E0A07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Two-user manual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38A3A-48C3-43AC-8A90-166F19F7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one document twice and compare final text after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C53B6-B2DE-4BE1-8853-5989216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for live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9D1C6-8DF9-45C3-BE03-C79C6186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Role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C580D-A97D-4235-8DBF-AFEA3A7C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 cannot edit; editor/admin can modify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99480-A6D2-4A1A-82EB-C8F6DBE6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910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in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7E9A5-393A-413E-9B2F-09001EB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These checks support the project’s functional claims. They are not a load test or a production reliability study.</a:t>
            </a:r>
          </a:p>
        </p:txBody>
      </p:sp>
    </p:spTree>
    <p:extLst>
      <p:ext uri="{BB962C8B-B14F-4D97-AF65-F5344CB8AC3E}">
        <p14:creationId xmlns:p14="http://schemas.microsoft.com/office/powerpoint/2010/main" val="10280677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5047DAA-F3B1-4056-BA09-F0D1496F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28BC4-900C-45D2-BC34-9703501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Utility to users and society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E2A2DFD-4BD1-4290-B1CE-014C121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D8149-68F2-4682-8B7E-B9A0B497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1F0B-1713-4A95-B442-0B268BCB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E4793-35CD-4B9A-8319-6AD865EA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Practical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BA284-D46B-439F-92D9-C40A5C2C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team can draft and review one shared document without sending files back and forth.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6C96B-D77C-4F77-A8C5-BD6AB1E8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Learning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7DBFD-26FA-4FFD-BAE2-03FFAB06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Students can inspect how relational data, permissions, live events and conflict handling fit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BF3BB-2CEE-4712-AC81-63B3DA38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76375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61AEF-2C95-4AC7-A75F-D84456E0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Sustainable development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5EB42-BA43-4305-AF87-5E3B74AD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D2959-F2FF-4ABD-BC28-EAB2A85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system uses open source tools and a small database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79E51-983B-454A-9758-A505924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E39DE-5515-4259-A391-21F1579E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modular API leaves room for comments, offline support or more document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0EE56-CFC0-4587-9CC4-90D2713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Limits to explain honestly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EF744-2432-4E0E-B02D-9C2DE1D9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3BD43-DF79-41FF-AF46-BA167A20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is educational and runs on one application server.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28711-B8FF-477A-A683-2D2FCA9B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1C7E0-1718-4192-AB27-969D61F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815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originality panel checks against a bundled local corpus; it is not web wide plagiarism detection.</a:t>
            </a:r>
          </a:p>
        </p:txBody>
      </p:sp>
    </p:spTree>
    <p:extLst>
      <p:ext uri="{BB962C8B-B14F-4D97-AF65-F5344CB8AC3E}">
        <p14:creationId xmlns:p14="http://schemas.microsoft.com/office/powerpoint/2010/main" val="6311791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DEC7442-9CD2-4D62-BFC9-5F6BD809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4F11F-7D48-477A-8E50-D2A86FED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Dissemination and presentation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66398A1-1729-4212-B69B-B047A2AE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E2ADF-1F02-45D2-9E07-D80F82CB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03F0C-F48A-46EE-94B9-BDD14D1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60FA7-E00F-49CF-90A5-0B4F9E0D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system is easiest to explain by following one edit from the browser to another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E223A-EF46-4142-8A7C-8FEBCE5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73D0A-B61C-48C8-A66E-F88EE6C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515C8-BC78-49AC-A64E-04F4D466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account access and channel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B7691-69B1-41D3-8F20-EC8D7931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654D5-09F5-4725-829B-F8EC6027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C38D8-B27E-4BF7-A183-C5DD72E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a 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7CF37-F54C-4B51-B27D-51D2CDF7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editor and saved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3776C-59E1-4E09-AD9E-6B4EE23F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92E3D-A3B2-46DB-B852-684D84A0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AB458-8CE4-4DB8-94DB-541650FF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in two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4BD3F-3579-4831-A47C-8B5C73F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Watch the second view receive the operation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6E245-F914-4441-A39E-255C5741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2DC2F-9881-41DF-A102-3C8AA4F3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79C8E-4BC5-43C2-A386-D647FAD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B808E-68FC-487B-A91B-0765994A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24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Preview an older version, then restore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689F8-34EE-4B89-B2B7-65FFF99B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For accessibility, use a clear spoken sequence, readable text and a live demonstration with prepared accounts and documents.</a:t>
            </a:r>
          </a:p>
        </p:txBody>
      </p:sp>
    </p:spTree>
    <p:extLst>
      <p:ext uri="{BB962C8B-B14F-4D97-AF65-F5344CB8AC3E}">
        <p14:creationId xmlns:p14="http://schemas.microsoft.com/office/powerpoint/2010/main" val="5391435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A419CC8-7955-4990-A1AA-5B669025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29A3C-30EE-4A4F-8F92-05CBFED8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4A6E10F7-9FD7-467A-934D-A137FE2B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A6F43-945A-404B-9C7F-F8726052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64BA4-795E-47EA-ADFE-F6531EC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FB207-2EAC-4F63-BDD5-1F804754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project demonstrates a complete path from a user’s edit to a shared, stored document.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294C2-BF99-41D5-B6E8-08D5A754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9A8FB-3A5D-4B1B-AE76-5217B2C4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server checks who can edit before it accepts live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1BA97-86AA-4E88-8241-577A366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19C4D-C9DC-4B42-8BA7-5414BF3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gives replicas a deterministic way to converge.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5F1E5-A10C-4D01-B911-3422B15E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80212-0069-44AE-AA61-1D4E7AB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the document state and its history for later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5026C-5354-450D-9372-4FB399BD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result is a working educational system that makes its database and collaboration choices visible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368427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2026-10-09T07:15:08.7470000Z</dcterms:created>
  <dcterms:modified xsi:type="dcterms:W3CDTF">2026-10-09T07:15:08.7470000Z</dcterms:modified>
</coreProperties>
</file>